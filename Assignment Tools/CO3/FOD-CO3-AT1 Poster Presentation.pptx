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0685463" cy="24761825"/>
  <p:notesSz cx="24761825" cy="10685463"/>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3" d="100"/>
          <a:sy n="23" d="100"/>
        </p:scale>
        <p:origin x="3067"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7670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7FB"/>
        </a:solidFill>
        <a:effectLst/>
      </p:bgPr>
    </p:bg>
    <p:spTree>
      <p:nvGrpSpPr>
        <p:cNvPr id="1" name=""/>
        <p:cNvGrpSpPr/>
        <p:nvPr/>
      </p:nvGrpSpPr>
      <p:grpSpPr>
        <a:xfrm>
          <a:off x="0" y="0"/>
          <a:ext cx="0" cy="0"/>
          <a:chOff x="0" y="0"/>
          <a:chExt cx="0" cy="0"/>
        </a:xfrm>
      </p:grpSpPr>
      <p:sp>
        <p:nvSpPr>
          <p:cNvPr id="2" name="Shape 0"/>
          <p:cNvSpPr/>
          <p:nvPr/>
        </p:nvSpPr>
        <p:spPr>
          <a:xfrm>
            <a:off x="0" y="0"/>
            <a:ext cx="10684764" cy="1417320"/>
          </a:xfrm>
          <a:prstGeom prst="rect">
            <a:avLst/>
          </a:prstGeom>
          <a:solidFill>
            <a:schemeClr val="accent5">
              <a:lumMod val="50000"/>
            </a:schemeClr>
          </a:solidFill>
          <a:ln/>
        </p:spPr>
        <p:txBody>
          <a:bodyPr/>
          <a:lstStyle/>
          <a:p>
            <a:endParaRPr lang="en-IN" dirty="0"/>
          </a:p>
        </p:txBody>
      </p:sp>
      <p:sp>
        <p:nvSpPr>
          <p:cNvPr id="3" name="Shape 1"/>
          <p:cNvSpPr/>
          <p:nvPr/>
        </p:nvSpPr>
        <p:spPr>
          <a:xfrm>
            <a:off x="0" y="1417320"/>
            <a:ext cx="10684764" cy="45720"/>
          </a:xfrm>
          <a:prstGeom prst="rect">
            <a:avLst/>
          </a:prstGeom>
          <a:solidFill>
            <a:srgbClr val="E28B26"/>
          </a:solidFill>
          <a:ln/>
        </p:spPr>
      </p:sp>
      <p:sp>
        <p:nvSpPr>
          <p:cNvPr id="5" name="Text 2"/>
          <p:cNvSpPr/>
          <p:nvPr/>
        </p:nvSpPr>
        <p:spPr>
          <a:xfrm>
            <a:off x="1" y="164592"/>
            <a:ext cx="7982711" cy="1115568"/>
          </a:xfrm>
          <a:prstGeom prst="rect">
            <a:avLst/>
          </a:prstGeom>
          <a:noFill/>
          <a:ln/>
        </p:spPr>
        <p:txBody>
          <a:bodyPr wrap="square" lIns="0" tIns="0" rIns="0" bIns="0" rtlCol="0" anchor="ctr"/>
          <a:lstStyle/>
          <a:p>
            <a:pPr marL="0" indent="0" algn="ctr">
              <a:lnSpc>
                <a:spcPct val="105000"/>
              </a:lnSpc>
              <a:buNone/>
            </a:pPr>
            <a:r>
              <a:rPr lang="en-US" sz="2700" b="1" dirty="0">
                <a:solidFill>
                  <a:srgbClr val="FFFFFF"/>
                </a:solidFill>
                <a:latin typeface="Times New Roman" panose="02020603050405020304" pitchFamily="18" charset="0"/>
                <a:ea typeface="Cambria" pitchFamily="34" charset="-122"/>
                <a:cs typeface="Times New Roman" panose="02020603050405020304" pitchFamily="18" charset="0"/>
              </a:rPr>
              <a:t>EXPLORATORY ANALYSIS OF ROAD ACCIDENT DATA</a:t>
            </a:r>
            <a:endParaRPr lang="en-US" sz="2700" dirty="0">
              <a:latin typeface="Times New Roman" panose="02020603050405020304" pitchFamily="18" charset="0"/>
              <a:cs typeface="Times New Roman" panose="02020603050405020304" pitchFamily="18" charset="0"/>
            </a:endParaRPr>
          </a:p>
          <a:p>
            <a:pPr marL="0" indent="0" algn="ctr">
              <a:lnSpc>
                <a:spcPct val="105000"/>
              </a:lnSpc>
              <a:buNone/>
            </a:pPr>
            <a:r>
              <a:rPr lang="en-US" sz="2700" b="1" dirty="0">
                <a:solidFill>
                  <a:srgbClr val="FFFFFF"/>
                </a:solidFill>
                <a:latin typeface="Times New Roman" panose="02020603050405020304" pitchFamily="18" charset="0"/>
                <a:ea typeface="Cambria" pitchFamily="34" charset="-122"/>
                <a:cs typeface="Times New Roman" panose="02020603050405020304" pitchFamily="18" charset="0"/>
              </a:rPr>
              <a:t>TO IDENTIFY RISK FACTORS</a:t>
            </a:r>
            <a:endParaRPr lang="en-US" sz="2700" dirty="0">
              <a:latin typeface="Times New Roman" panose="02020603050405020304" pitchFamily="18" charset="0"/>
              <a:cs typeface="Times New Roman" panose="02020603050405020304" pitchFamily="18" charset="0"/>
            </a:endParaRPr>
          </a:p>
        </p:txBody>
      </p:sp>
      <p:sp>
        <p:nvSpPr>
          <p:cNvPr id="6" name="Text 3"/>
          <p:cNvSpPr/>
          <p:nvPr/>
        </p:nvSpPr>
        <p:spPr>
          <a:xfrm>
            <a:off x="760781" y="960120"/>
            <a:ext cx="9480499" cy="320040"/>
          </a:xfrm>
          <a:prstGeom prst="rect">
            <a:avLst/>
          </a:prstGeom>
          <a:noFill/>
          <a:ln/>
        </p:spPr>
        <p:txBody>
          <a:bodyPr wrap="square" lIns="0" tIns="0" rIns="0" bIns="0" rtlCol="0" anchor="ctr"/>
          <a:lstStyle/>
          <a:p>
            <a:pPr marL="0" indent="0" algn="ctr">
              <a:buNone/>
            </a:pPr>
            <a:endParaRPr lang="en-US" sz="1300" dirty="0"/>
          </a:p>
        </p:txBody>
      </p:sp>
      <p:sp>
        <p:nvSpPr>
          <p:cNvPr id="7" name="Shape 4"/>
          <p:cNvSpPr/>
          <p:nvPr/>
        </p:nvSpPr>
        <p:spPr>
          <a:xfrm>
            <a:off x="320040" y="1691640"/>
            <a:ext cx="10049256" cy="475488"/>
          </a:xfrm>
          <a:prstGeom prst="roundRect">
            <a:avLst>
              <a:gd name="adj" fmla="val 13462"/>
            </a:avLst>
          </a:prstGeom>
          <a:solidFill>
            <a:schemeClr val="accent5">
              <a:lumMod val="50000"/>
            </a:schemeClr>
          </a:solidFill>
          <a:ln/>
          <a:effectLst>
            <a:outerShdw blurRad="101600" dist="38100" dir="5400000" algn="bl" rotWithShape="0">
              <a:srgbClr val="0A1F35">
                <a:alpha val="18000"/>
              </a:srgbClr>
            </a:outerShdw>
          </a:effectLst>
        </p:spPr>
      </p:sp>
      <p:sp>
        <p:nvSpPr>
          <p:cNvPr id="8" name="Shape 5"/>
          <p:cNvSpPr/>
          <p:nvPr/>
        </p:nvSpPr>
        <p:spPr>
          <a:xfrm>
            <a:off x="457200" y="1773936"/>
            <a:ext cx="310896" cy="310896"/>
          </a:xfrm>
          <a:prstGeom prst="ellipse">
            <a:avLst/>
          </a:prstGeom>
          <a:solidFill>
            <a:srgbClr val="E28B26"/>
          </a:solidFill>
          <a:ln/>
        </p:spPr>
      </p:sp>
      <p:sp>
        <p:nvSpPr>
          <p:cNvPr id="9" name="Text 6"/>
          <p:cNvSpPr/>
          <p:nvPr/>
        </p:nvSpPr>
        <p:spPr>
          <a:xfrm>
            <a:off x="457200" y="1773936"/>
            <a:ext cx="310896" cy="310896"/>
          </a:xfrm>
          <a:prstGeom prst="rect">
            <a:avLst/>
          </a:prstGeom>
          <a:noFill/>
          <a:ln/>
        </p:spPr>
        <p:txBody>
          <a:bodyPr wrap="square" lIns="0" tIns="0" rIns="0" bIns="0" rtlCol="0" anchor="ctr"/>
          <a:lstStyle/>
          <a:p>
            <a:pPr marL="0" indent="0" algn="ctr">
              <a:buNone/>
            </a:pPr>
            <a:r>
              <a:rPr lang="en-US" sz="1400" b="1" dirty="0">
                <a:solidFill>
                  <a:srgbClr val="0F2A47"/>
                </a:solidFill>
                <a:latin typeface="Calibri" pitchFamily="34" charset="0"/>
                <a:ea typeface="Calibri" pitchFamily="34" charset="-122"/>
                <a:cs typeface="Calibri" pitchFamily="34" charset="-120"/>
              </a:rPr>
              <a:t>1</a:t>
            </a:r>
            <a:endParaRPr lang="en-US" sz="1400" dirty="0"/>
          </a:p>
        </p:txBody>
      </p:sp>
      <p:pic>
        <p:nvPicPr>
          <p:cNvPr id="10" name="Image 1" descr="icon_intro.png"/>
          <p:cNvPicPr>
            <a:picLocks noChangeAspect="1"/>
          </p:cNvPicPr>
          <p:nvPr/>
        </p:nvPicPr>
        <p:blipFill>
          <a:blip r:embed="rId3"/>
          <a:stretch>
            <a:fillRect/>
          </a:stretch>
        </p:blipFill>
        <p:spPr>
          <a:xfrm>
            <a:off x="896112" y="1792224"/>
            <a:ext cx="274320" cy="274320"/>
          </a:xfrm>
          <a:prstGeom prst="rect">
            <a:avLst/>
          </a:prstGeom>
        </p:spPr>
      </p:pic>
      <p:sp>
        <p:nvSpPr>
          <p:cNvPr id="11" name="Text 7"/>
          <p:cNvSpPr/>
          <p:nvPr/>
        </p:nvSpPr>
        <p:spPr>
          <a:xfrm>
            <a:off x="1261872" y="1691640"/>
            <a:ext cx="8961120" cy="475488"/>
          </a:xfrm>
          <a:prstGeom prst="rect">
            <a:avLst/>
          </a:prstGeom>
          <a:noFill/>
          <a:ln/>
        </p:spPr>
        <p:txBody>
          <a:bodyPr wrap="square" lIns="0" tIns="0" rIns="0" bIns="0" rtlCol="0" anchor="ctr"/>
          <a:lstStyle/>
          <a:p>
            <a:pPr marL="0" indent="0" algn="l">
              <a:buNone/>
            </a:pPr>
            <a:r>
              <a:rPr lang="en-US" sz="1650" b="1" kern="0" spc="50" dirty="0">
                <a:solidFill>
                  <a:srgbClr val="FFFFFF"/>
                </a:solidFill>
                <a:latin typeface="Times New Roman" panose="02020603050405020304" pitchFamily="18" charset="0"/>
                <a:ea typeface="Cambria" pitchFamily="34" charset="-122"/>
                <a:cs typeface="Times New Roman" panose="02020603050405020304" pitchFamily="18" charset="0"/>
              </a:rPr>
              <a:t>INTRODUCTION</a:t>
            </a:r>
            <a:endParaRPr lang="en-US" sz="1650" dirty="0">
              <a:latin typeface="Times New Roman" panose="02020603050405020304" pitchFamily="18" charset="0"/>
              <a:cs typeface="Times New Roman" panose="02020603050405020304" pitchFamily="18" charset="0"/>
            </a:endParaRPr>
          </a:p>
        </p:txBody>
      </p:sp>
      <p:sp>
        <p:nvSpPr>
          <p:cNvPr id="12" name="Text 8"/>
          <p:cNvSpPr/>
          <p:nvPr/>
        </p:nvSpPr>
        <p:spPr>
          <a:xfrm>
            <a:off x="530352" y="2331720"/>
            <a:ext cx="9555480" cy="822960"/>
          </a:xfrm>
          <a:prstGeom prst="rect">
            <a:avLst/>
          </a:prstGeom>
          <a:noFill/>
          <a:ln/>
        </p:spPr>
        <p:txBody>
          <a:bodyPr wrap="square" lIns="0" tIns="0" rIns="0" bIns="0" rtlCol="0" anchor="t"/>
          <a:lstStyle/>
          <a:p>
            <a:pPr>
              <a:lnSpc>
                <a:spcPct val="118000"/>
              </a:lnSpc>
            </a:pPr>
            <a:r>
              <a:rPr lang="en-US" sz="1150" dirty="0">
                <a:solidFill>
                  <a:srgbClr val="1E2A38"/>
                </a:solidFill>
                <a:latin typeface="Times New Roman" panose="02020603050405020304" pitchFamily="18" charset="0"/>
                <a:ea typeface="Calibri" pitchFamily="34" charset="-122"/>
                <a:cs typeface="Times New Roman" panose="02020603050405020304" pitchFamily="18" charset="0"/>
              </a:rPr>
              <a:t>Road traffic accidents remain a major public safety concern, arising from a complex interplay of driver behaviour, road conditions, vehicle type, weather and time of travel. Exploratory data analysis helps uncover the patterns behind these factors and highlights where interventions can have the greatest impact.</a:t>
            </a:r>
            <a:r>
              <a:rPr lang="en-IN" sz="1200" dirty="0">
                <a:latin typeface="Times New Roman" panose="02020603050405020304" pitchFamily="18" charset="0"/>
                <a:cs typeface="Times New Roman" panose="02020603050405020304" pitchFamily="18" charset="0"/>
              </a:rPr>
              <a:t> By identifying common patterns and high-risk factors, this analysis can provide useful insights for improving road safety, supporting better traffic management, and helping authorities develop effective accident-prevention strategies.</a:t>
            </a:r>
            <a:endParaRPr lang="en-US" sz="1150" dirty="0">
              <a:latin typeface="Times New Roman" panose="02020603050405020304" pitchFamily="18" charset="0"/>
              <a:cs typeface="Times New Roman" panose="02020603050405020304" pitchFamily="18" charset="0"/>
            </a:endParaRPr>
          </a:p>
        </p:txBody>
      </p:sp>
      <p:sp>
        <p:nvSpPr>
          <p:cNvPr id="13" name="Shape 9"/>
          <p:cNvSpPr/>
          <p:nvPr/>
        </p:nvSpPr>
        <p:spPr>
          <a:xfrm>
            <a:off x="411480" y="3374136"/>
            <a:ext cx="3136392" cy="777240"/>
          </a:xfrm>
          <a:prstGeom prst="roundRect">
            <a:avLst>
              <a:gd name="adj" fmla="val 10588"/>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txBody>
          <a:bodyPr/>
          <a:lstStyle/>
          <a:p>
            <a:endParaRPr lang="en-IN" dirty="0"/>
          </a:p>
        </p:txBody>
      </p:sp>
      <p:sp>
        <p:nvSpPr>
          <p:cNvPr id="14" name="Shape 10"/>
          <p:cNvSpPr/>
          <p:nvPr/>
        </p:nvSpPr>
        <p:spPr>
          <a:xfrm>
            <a:off x="576072" y="3589020"/>
            <a:ext cx="365760" cy="365760"/>
          </a:xfrm>
          <a:prstGeom prst="ellipse">
            <a:avLst/>
          </a:prstGeom>
          <a:solidFill>
            <a:srgbClr val="FDF1E2"/>
          </a:solidFill>
          <a:ln/>
        </p:spPr>
      </p:sp>
      <p:pic>
        <p:nvPicPr>
          <p:cNvPr id="15" name="Image 2" descr="icon_years.png"/>
          <p:cNvPicPr>
            <a:picLocks noChangeAspect="1"/>
          </p:cNvPicPr>
          <p:nvPr/>
        </p:nvPicPr>
        <p:blipFill>
          <a:blip r:embed="rId4"/>
          <a:stretch>
            <a:fillRect/>
          </a:stretch>
        </p:blipFill>
        <p:spPr>
          <a:xfrm>
            <a:off x="623621" y="3636569"/>
            <a:ext cx="270662" cy="270662"/>
          </a:xfrm>
          <a:prstGeom prst="rect">
            <a:avLst/>
          </a:prstGeom>
        </p:spPr>
      </p:pic>
      <p:sp>
        <p:nvSpPr>
          <p:cNvPr id="16" name="Text 11"/>
          <p:cNvSpPr/>
          <p:nvPr/>
        </p:nvSpPr>
        <p:spPr>
          <a:xfrm>
            <a:off x="1051560" y="3465576"/>
            <a:ext cx="2359152" cy="310896"/>
          </a:xfrm>
          <a:prstGeom prst="rect">
            <a:avLst/>
          </a:prstGeom>
          <a:noFill/>
          <a:ln/>
        </p:spPr>
        <p:txBody>
          <a:bodyPr wrap="square" lIns="0" tIns="0" rIns="0" bIns="0" rtlCol="0" anchor="ctr"/>
          <a:lstStyle/>
          <a:p>
            <a:pPr marL="0" indent="0" algn="l">
              <a:buNone/>
            </a:pPr>
            <a:r>
              <a:rPr lang="en-US" sz="1500" b="1" dirty="0">
                <a:solidFill>
                  <a:srgbClr val="0F2A47"/>
                </a:solidFill>
                <a:latin typeface="Calibri" pitchFamily="34" charset="0"/>
                <a:ea typeface="Calibri" pitchFamily="34" charset="-122"/>
                <a:cs typeface="Calibri" pitchFamily="34" charset="-120"/>
              </a:rPr>
              <a:t>5 YEARS</a:t>
            </a:r>
            <a:endParaRPr lang="en-US" sz="1500" dirty="0"/>
          </a:p>
        </p:txBody>
      </p:sp>
      <p:sp>
        <p:nvSpPr>
          <p:cNvPr id="17" name="Text 12"/>
          <p:cNvSpPr/>
          <p:nvPr/>
        </p:nvSpPr>
        <p:spPr>
          <a:xfrm>
            <a:off x="1051560" y="3776472"/>
            <a:ext cx="2359152" cy="310896"/>
          </a:xfrm>
          <a:prstGeom prst="rect">
            <a:avLst/>
          </a:prstGeom>
          <a:noFill/>
          <a:ln/>
        </p:spPr>
        <p:txBody>
          <a:bodyPr wrap="square" lIns="0" tIns="0" rIns="0" bIns="0" rtlCol="0" anchor="t"/>
          <a:lstStyle/>
          <a:p>
            <a:pPr marL="0" indent="0" algn="l">
              <a:lnSpc>
                <a:spcPct val="105000"/>
              </a:lnSpc>
              <a:buNone/>
            </a:pPr>
            <a:r>
              <a:rPr lang="en-US" sz="1100" dirty="0">
                <a:solidFill>
                  <a:srgbClr val="60707F"/>
                </a:solidFill>
                <a:latin typeface="Times New Roman" panose="02020603050405020304" pitchFamily="18" charset="0"/>
                <a:ea typeface="Calibri" pitchFamily="34" charset="-122"/>
                <a:cs typeface="Times New Roman" panose="02020603050405020304" pitchFamily="18" charset="0"/>
              </a:rPr>
              <a:t>Study period covered (2019–2023)</a:t>
            </a:r>
            <a:endParaRPr lang="en-US" sz="1100" dirty="0">
              <a:latin typeface="Times New Roman" panose="02020603050405020304" pitchFamily="18" charset="0"/>
              <a:cs typeface="Times New Roman" panose="02020603050405020304" pitchFamily="18" charset="0"/>
            </a:endParaRPr>
          </a:p>
        </p:txBody>
      </p:sp>
      <p:sp>
        <p:nvSpPr>
          <p:cNvPr id="18" name="Shape 13"/>
          <p:cNvSpPr/>
          <p:nvPr/>
        </p:nvSpPr>
        <p:spPr>
          <a:xfrm>
            <a:off x="3776472" y="3374136"/>
            <a:ext cx="3136392" cy="777240"/>
          </a:xfrm>
          <a:prstGeom prst="roundRect">
            <a:avLst>
              <a:gd name="adj" fmla="val 10588"/>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19" name="Shape 14"/>
          <p:cNvSpPr/>
          <p:nvPr/>
        </p:nvSpPr>
        <p:spPr>
          <a:xfrm>
            <a:off x="3941064" y="3589020"/>
            <a:ext cx="365760" cy="365760"/>
          </a:xfrm>
          <a:prstGeom prst="ellipse">
            <a:avLst/>
          </a:prstGeom>
          <a:solidFill>
            <a:srgbClr val="FDF1E2"/>
          </a:solidFill>
          <a:ln/>
        </p:spPr>
      </p:sp>
      <p:pic>
        <p:nvPicPr>
          <p:cNvPr id="20" name="Image 3" descr="icon_observations.png"/>
          <p:cNvPicPr>
            <a:picLocks noChangeAspect="1"/>
          </p:cNvPicPr>
          <p:nvPr/>
        </p:nvPicPr>
        <p:blipFill>
          <a:blip r:embed="rId5"/>
          <a:stretch>
            <a:fillRect/>
          </a:stretch>
        </p:blipFill>
        <p:spPr>
          <a:xfrm>
            <a:off x="3988613" y="3636569"/>
            <a:ext cx="270662" cy="270662"/>
          </a:xfrm>
          <a:prstGeom prst="rect">
            <a:avLst/>
          </a:prstGeom>
        </p:spPr>
      </p:pic>
      <p:sp>
        <p:nvSpPr>
          <p:cNvPr id="21" name="Text 15"/>
          <p:cNvSpPr/>
          <p:nvPr/>
        </p:nvSpPr>
        <p:spPr>
          <a:xfrm>
            <a:off x="4416552" y="3465576"/>
            <a:ext cx="2359152" cy="310896"/>
          </a:xfrm>
          <a:prstGeom prst="rect">
            <a:avLst/>
          </a:prstGeom>
          <a:noFill/>
          <a:ln/>
        </p:spPr>
        <p:txBody>
          <a:bodyPr wrap="square" lIns="0" tIns="0" rIns="0" bIns="0" rtlCol="0" anchor="ctr"/>
          <a:lstStyle/>
          <a:p>
            <a:pPr marL="0" indent="0" algn="l">
              <a:buNone/>
            </a:pPr>
            <a:r>
              <a:rPr lang="en-US" sz="1500" b="1" dirty="0">
                <a:solidFill>
                  <a:srgbClr val="0F2A47"/>
                </a:solidFill>
                <a:latin typeface="Calibri" pitchFamily="34" charset="0"/>
                <a:ea typeface="Calibri" pitchFamily="34" charset="-122"/>
                <a:cs typeface="Calibri" pitchFamily="34" charset="-120"/>
              </a:rPr>
              <a:t>12,314</a:t>
            </a:r>
            <a:endParaRPr lang="en-US" sz="1500" dirty="0"/>
          </a:p>
        </p:txBody>
      </p:sp>
      <p:sp>
        <p:nvSpPr>
          <p:cNvPr id="22" name="Text 16"/>
          <p:cNvSpPr/>
          <p:nvPr/>
        </p:nvSpPr>
        <p:spPr>
          <a:xfrm>
            <a:off x="4416552" y="3776472"/>
            <a:ext cx="2359152" cy="310896"/>
          </a:xfrm>
          <a:prstGeom prst="rect">
            <a:avLst/>
          </a:prstGeom>
          <a:noFill/>
          <a:ln/>
        </p:spPr>
        <p:txBody>
          <a:bodyPr wrap="square" lIns="0" tIns="0" rIns="0" bIns="0" rtlCol="0" anchor="t"/>
          <a:lstStyle/>
          <a:p>
            <a:pPr marL="0" indent="0" algn="l">
              <a:lnSpc>
                <a:spcPct val="105000"/>
              </a:lnSpc>
              <a:buNone/>
            </a:pPr>
            <a:r>
              <a:rPr lang="en-US" sz="1100" dirty="0">
                <a:solidFill>
                  <a:srgbClr val="60707F"/>
                </a:solidFill>
                <a:latin typeface="Times New Roman" panose="02020603050405020304" pitchFamily="18" charset="0"/>
                <a:ea typeface="Calibri" pitchFamily="34" charset="-122"/>
                <a:cs typeface="Times New Roman" panose="02020603050405020304" pitchFamily="18" charset="0"/>
              </a:rPr>
              <a:t>Accident records analysed</a:t>
            </a:r>
            <a:endParaRPr lang="en-US" sz="1100" dirty="0">
              <a:latin typeface="Times New Roman" panose="02020603050405020304" pitchFamily="18" charset="0"/>
              <a:cs typeface="Times New Roman" panose="02020603050405020304" pitchFamily="18" charset="0"/>
            </a:endParaRPr>
          </a:p>
        </p:txBody>
      </p:sp>
      <p:sp>
        <p:nvSpPr>
          <p:cNvPr id="23" name="Shape 17"/>
          <p:cNvSpPr/>
          <p:nvPr/>
        </p:nvSpPr>
        <p:spPr>
          <a:xfrm>
            <a:off x="7141464" y="3374136"/>
            <a:ext cx="3136392" cy="777240"/>
          </a:xfrm>
          <a:prstGeom prst="roundRect">
            <a:avLst>
              <a:gd name="adj" fmla="val 10588"/>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24" name="Shape 18"/>
          <p:cNvSpPr/>
          <p:nvPr/>
        </p:nvSpPr>
        <p:spPr>
          <a:xfrm>
            <a:off x="7306056" y="3589020"/>
            <a:ext cx="365760" cy="365760"/>
          </a:xfrm>
          <a:prstGeom prst="ellipse">
            <a:avLst/>
          </a:prstGeom>
          <a:solidFill>
            <a:srgbClr val="FDF1E2"/>
          </a:solidFill>
          <a:ln/>
        </p:spPr>
      </p:sp>
      <p:pic>
        <p:nvPicPr>
          <p:cNvPr id="25" name="Image 4" descr="icon_dimensions.png"/>
          <p:cNvPicPr>
            <a:picLocks noChangeAspect="1"/>
          </p:cNvPicPr>
          <p:nvPr/>
        </p:nvPicPr>
        <p:blipFill>
          <a:blip r:embed="rId6"/>
          <a:stretch>
            <a:fillRect/>
          </a:stretch>
        </p:blipFill>
        <p:spPr>
          <a:xfrm>
            <a:off x="7353605" y="3636569"/>
            <a:ext cx="270662" cy="270662"/>
          </a:xfrm>
          <a:prstGeom prst="rect">
            <a:avLst/>
          </a:prstGeom>
        </p:spPr>
      </p:pic>
      <p:sp>
        <p:nvSpPr>
          <p:cNvPr id="26" name="Text 19"/>
          <p:cNvSpPr/>
          <p:nvPr/>
        </p:nvSpPr>
        <p:spPr>
          <a:xfrm>
            <a:off x="7781544" y="3465576"/>
            <a:ext cx="2359152" cy="310896"/>
          </a:xfrm>
          <a:prstGeom prst="rect">
            <a:avLst/>
          </a:prstGeom>
          <a:noFill/>
          <a:ln/>
        </p:spPr>
        <p:txBody>
          <a:bodyPr wrap="square" lIns="0" tIns="0" rIns="0" bIns="0" rtlCol="0" anchor="ctr"/>
          <a:lstStyle/>
          <a:p>
            <a:pPr marL="0" indent="0" algn="l">
              <a:buNone/>
            </a:pPr>
            <a:r>
              <a:rPr lang="en-US" sz="1500" b="1" dirty="0">
                <a:solidFill>
                  <a:srgbClr val="0F2A47"/>
                </a:solidFill>
                <a:latin typeface="Calibri" pitchFamily="34" charset="0"/>
                <a:ea typeface="Calibri" pitchFamily="34" charset="-122"/>
                <a:cs typeface="Calibri" pitchFamily="34" charset="-120"/>
              </a:rPr>
              <a:t>6 FACTORS</a:t>
            </a:r>
            <a:endParaRPr lang="en-US" sz="1500" dirty="0"/>
          </a:p>
        </p:txBody>
      </p:sp>
      <p:sp>
        <p:nvSpPr>
          <p:cNvPr id="27" name="Text 20"/>
          <p:cNvSpPr/>
          <p:nvPr/>
        </p:nvSpPr>
        <p:spPr>
          <a:xfrm>
            <a:off x="7781544" y="3776472"/>
            <a:ext cx="2359152" cy="310896"/>
          </a:xfrm>
          <a:prstGeom prst="rect">
            <a:avLst/>
          </a:prstGeom>
          <a:noFill/>
          <a:ln/>
        </p:spPr>
        <p:txBody>
          <a:bodyPr wrap="square" lIns="0" tIns="0" rIns="0" bIns="0" rtlCol="0" anchor="t"/>
          <a:lstStyle/>
          <a:p>
            <a:pPr marL="0" indent="0" algn="l">
              <a:lnSpc>
                <a:spcPct val="105000"/>
              </a:lnSpc>
              <a:buNone/>
            </a:pPr>
            <a:r>
              <a:rPr lang="en-US" sz="1100" dirty="0">
                <a:solidFill>
                  <a:srgbClr val="60707F"/>
                </a:solidFill>
                <a:latin typeface="Times New Roman" panose="02020603050405020304" pitchFamily="18" charset="0"/>
                <a:ea typeface="Calibri" pitchFamily="34" charset="-122"/>
                <a:cs typeface="Times New Roman" panose="02020603050405020304" pitchFamily="18" charset="0"/>
              </a:rPr>
              <a:t>Risk dimensions examined per record</a:t>
            </a:r>
            <a:endParaRPr lang="en-US" sz="1100" dirty="0">
              <a:latin typeface="Times New Roman" panose="02020603050405020304" pitchFamily="18" charset="0"/>
              <a:cs typeface="Times New Roman" panose="02020603050405020304" pitchFamily="18" charset="0"/>
            </a:endParaRPr>
          </a:p>
        </p:txBody>
      </p:sp>
      <p:sp>
        <p:nvSpPr>
          <p:cNvPr id="28" name="Shape 21"/>
          <p:cNvSpPr/>
          <p:nvPr/>
        </p:nvSpPr>
        <p:spPr>
          <a:xfrm>
            <a:off x="411480" y="4389120"/>
            <a:ext cx="4828032" cy="1481328"/>
          </a:xfrm>
          <a:prstGeom prst="roundRect">
            <a:avLst>
              <a:gd name="adj" fmla="val 5556"/>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sp>
        <p:nvSpPr>
          <p:cNvPr id="29" name="Shape 22"/>
          <p:cNvSpPr/>
          <p:nvPr/>
        </p:nvSpPr>
        <p:spPr>
          <a:xfrm>
            <a:off x="594360" y="4553712"/>
            <a:ext cx="365760" cy="365760"/>
          </a:xfrm>
          <a:prstGeom prst="ellipse">
            <a:avLst/>
          </a:prstGeom>
          <a:solidFill>
            <a:srgbClr val="FDF1E2"/>
          </a:solidFill>
          <a:ln/>
        </p:spPr>
      </p:sp>
      <p:pic>
        <p:nvPicPr>
          <p:cNvPr id="30" name="Image 5" descr="icon_problem.png"/>
          <p:cNvPicPr>
            <a:picLocks noChangeAspect="1"/>
          </p:cNvPicPr>
          <p:nvPr/>
        </p:nvPicPr>
        <p:blipFill>
          <a:blip r:embed="rId7"/>
          <a:stretch>
            <a:fillRect/>
          </a:stretch>
        </p:blipFill>
        <p:spPr>
          <a:xfrm>
            <a:off x="641909" y="4601261"/>
            <a:ext cx="270662" cy="270662"/>
          </a:xfrm>
          <a:prstGeom prst="rect">
            <a:avLst/>
          </a:prstGeom>
        </p:spPr>
      </p:pic>
      <p:sp>
        <p:nvSpPr>
          <p:cNvPr id="31" name="Text 23"/>
          <p:cNvSpPr/>
          <p:nvPr/>
        </p:nvSpPr>
        <p:spPr>
          <a:xfrm>
            <a:off x="1078992" y="4553712"/>
            <a:ext cx="4023360" cy="365760"/>
          </a:xfrm>
          <a:prstGeom prst="rect">
            <a:avLst/>
          </a:prstGeom>
          <a:noFill/>
          <a:ln/>
        </p:spPr>
        <p:txBody>
          <a:bodyPr wrap="square" lIns="0" tIns="0" rIns="0" bIns="0" rtlCol="0" anchor="ctr"/>
          <a:lstStyle/>
          <a:p>
            <a:pPr marL="0" indent="0" algn="l">
              <a:buNone/>
            </a:pPr>
            <a:r>
              <a:rPr lang="en-US" sz="1300" b="1" kern="0" spc="50" dirty="0">
                <a:solidFill>
                  <a:srgbClr val="E28B26"/>
                </a:solidFill>
                <a:latin typeface="Calibri" pitchFamily="34" charset="0"/>
                <a:ea typeface="Calibri" pitchFamily="34" charset="-122"/>
                <a:cs typeface="Calibri" pitchFamily="34" charset="-120"/>
              </a:rPr>
              <a:t>PROBLEM STATEMENT</a:t>
            </a:r>
            <a:endParaRPr lang="en-US" sz="1300" dirty="0"/>
          </a:p>
        </p:txBody>
      </p:sp>
      <p:sp>
        <p:nvSpPr>
          <p:cNvPr id="32" name="Text 24"/>
          <p:cNvSpPr/>
          <p:nvPr/>
        </p:nvSpPr>
        <p:spPr>
          <a:xfrm>
            <a:off x="621792" y="4992624"/>
            <a:ext cx="4434840" cy="822960"/>
          </a:xfrm>
          <a:prstGeom prst="rect">
            <a:avLst/>
          </a:prstGeom>
          <a:noFill/>
          <a:ln/>
        </p:spPr>
        <p:txBody>
          <a:bodyPr wrap="square" lIns="0" tIns="0" rIns="0" bIns="0" rtlCol="0" anchor="t"/>
          <a:lstStyle/>
          <a:p>
            <a:pPr marL="171450" indent="-171450" algn="l">
              <a:lnSpc>
                <a:spcPct val="115000"/>
              </a:lnSpc>
              <a:buFont typeface="Arial" panose="020B0604020202020204" pitchFamily="34" charset="0"/>
              <a:buChar char="•"/>
            </a:pPr>
            <a:r>
              <a:rPr lang="en-US" sz="1100" dirty="0">
                <a:solidFill>
                  <a:srgbClr val="1E2A38"/>
                </a:solidFill>
                <a:latin typeface="Times New Roman" panose="02020603050405020304" pitchFamily="18" charset="0"/>
                <a:ea typeface="Calibri" pitchFamily="34" charset="-122"/>
                <a:cs typeface="Times New Roman" panose="02020603050405020304" pitchFamily="18" charset="0"/>
              </a:rPr>
              <a:t>Road accidents arise from a complex mix of driver behaviour, weather, road type, junction design and time of travel. </a:t>
            </a:r>
          </a:p>
          <a:p>
            <a:pPr marL="171450" indent="-171450" algn="l">
              <a:lnSpc>
                <a:spcPct val="115000"/>
              </a:lnSpc>
              <a:buFont typeface="Arial" panose="020B0604020202020204" pitchFamily="34" charset="0"/>
              <a:buChar char="•"/>
            </a:pPr>
            <a:r>
              <a:rPr lang="en-US" sz="1100" dirty="0">
                <a:solidFill>
                  <a:srgbClr val="1E2A38"/>
                </a:solidFill>
                <a:latin typeface="Times New Roman" panose="02020603050405020304" pitchFamily="18" charset="0"/>
                <a:ea typeface="Calibri" pitchFamily="34" charset="-122"/>
                <a:cs typeface="Times New Roman" panose="02020603050405020304" pitchFamily="18" charset="0"/>
              </a:rPr>
              <a:t>Without a clear view of which conditions carry the greatest risk, prevention efforts are difficult to prioritise effectively.</a:t>
            </a:r>
            <a:endParaRPr lang="en-US" sz="1100" dirty="0">
              <a:latin typeface="Times New Roman" panose="02020603050405020304" pitchFamily="18" charset="0"/>
              <a:cs typeface="Times New Roman" panose="02020603050405020304" pitchFamily="18" charset="0"/>
            </a:endParaRPr>
          </a:p>
        </p:txBody>
      </p:sp>
      <p:sp>
        <p:nvSpPr>
          <p:cNvPr id="33" name="Shape 25"/>
          <p:cNvSpPr/>
          <p:nvPr/>
        </p:nvSpPr>
        <p:spPr>
          <a:xfrm>
            <a:off x="5440680" y="4389120"/>
            <a:ext cx="4828032" cy="1481328"/>
          </a:xfrm>
          <a:prstGeom prst="roundRect">
            <a:avLst>
              <a:gd name="adj" fmla="val 5556"/>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sp>
        <p:nvSpPr>
          <p:cNvPr id="34" name="Shape 26"/>
          <p:cNvSpPr/>
          <p:nvPr/>
        </p:nvSpPr>
        <p:spPr>
          <a:xfrm>
            <a:off x="5623560" y="4553712"/>
            <a:ext cx="365760" cy="365760"/>
          </a:xfrm>
          <a:prstGeom prst="ellipse">
            <a:avLst/>
          </a:prstGeom>
          <a:solidFill>
            <a:srgbClr val="FDF1E2"/>
          </a:solidFill>
          <a:ln/>
        </p:spPr>
      </p:sp>
      <p:pic>
        <p:nvPicPr>
          <p:cNvPr id="35" name="Image 6" descr="icon_objectives.png"/>
          <p:cNvPicPr>
            <a:picLocks noChangeAspect="1"/>
          </p:cNvPicPr>
          <p:nvPr/>
        </p:nvPicPr>
        <p:blipFill>
          <a:blip r:embed="rId8"/>
          <a:stretch>
            <a:fillRect/>
          </a:stretch>
        </p:blipFill>
        <p:spPr>
          <a:xfrm>
            <a:off x="5671109" y="4601261"/>
            <a:ext cx="270662" cy="270662"/>
          </a:xfrm>
          <a:prstGeom prst="rect">
            <a:avLst/>
          </a:prstGeom>
        </p:spPr>
      </p:pic>
      <p:sp>
        <p:nvSpPr>
          <p:cNvPr id="36" name="Text 27"/>
          <p:cNvSpPr/>
          <p:nvPr/>
        </p:nvSpPr>
        <p:spPr>
          <a:xfrm>
            <a:off x="6108192" y="4521708"/>
            <a:ext cx="4023360" cy="397764"/>
          </a:xfrm>
          <a:prstGeom prst="rect">
            <a:avLst/>
          </a:prstGeom>
          <a:noFill/>
          <a:ln/>
        </p:spPr>
        <p:txBody>
          <a:bodyPr wrap="square" lIns="0" tIns="0" rIns="0" bIns="0" rtlCol="0" anchor="ctr"/>
          <a:lstStyle/>
          <a:p>
            <a:pPr marL="0" indent="0" algn="l">
              <a:buNone/>
            </a:pPr>
            <a:r>
              <a:rPr lang="en-US" sz="1300" b="1" kern="0" spc="50" dirty="0">
                <a:solidFill>
                  <a:srgbClr val="E28B26"/>
                </a:solidFill>
                <a:latin typeface="Calibri" pitchFamily="34" charset="0"/>
                <a:ea typeface="Calibri" pitchFamily="34" charset="-122"/>
                <a:cs typeface="Calibri" pitchFamily="34" charset="-120"/>
              </a:rPr>
              <a:t>OBJECTIVES</a:t>
            </a:r>
            <a:endParaRPr lang="en-US" sz="1300" dirty="0"/>
          </a:p>
        </p:txBody>
      </p:sp>
      <p:sp>
        <p:nvSpPr>
          <p:cNvPr id="37" name="Text 28"/>
          <p:cNvSpPr/>
          <p:nvPr/>
        </p:nvSpPr>
        <p:spPr>
          <a:xfrm>
            <a:off x="5907024" y="4871923"/>
            <a:ext cx="4178808" cy="897941"/>
          </a:xfrm>
          <a:prstGeom prst="rect">
            <a:avLst/>
          </a:prstGeom>
          <a:noFill/>
          <a:ln/>
        </p:spPr>
        <p:txBody>
          <a:bodyPr wrap="square" lIns="0" tIns="0" rIns="0" bIns="0" rtlCol="0" anchor="t"/>
          <a:lstStyle/>
          <a:p>
            <a:pPr marL="171450" indent="-171450" algn="l">
              <a:lnSpc>
                <a:spcPct val="110000"/>
              </a:lnSpc>
              <a:spcAft>
                <a:spcPts val="250"/>
              </a:spcAft>
              <a:buSzPct val="100000"/>
              <a:buFont typeface="Arial" panose="020B0604020202020204" pitchFamily="34" charset="0"/>
              <a:buChar char="•"/>
            </a:pPr>
            <a:r>
              <a:rPr lang="en-US" sz="1020" dirty="0">
                <a:solidFill>
                  <a:srgbClr val="1E2A38"/>
                </a:solidFill>
                <a:latin typeface="Times New Roman" panose="02020603050405020304" pitchFamily="18" charset="0"/>
                <a:ea typeface="Calibri" pitchFamily="34" charset="-122"/>
                <a:cs typeface="Times New Roman" panose="02020603050405020304" pitchFamily="18" charset="0"/>
              </a:rPr>
              <a:t>Analyse historical road accident records</a:t>
            </a:r>
            <a:endParaRPr lang="en-US" sz="1020" dirty="0">
              <a:latin typeface="Times New Roman" panose="02020603050405020304" pitchFamily="18" charset="0"/>
              <a:cs typeface="Times New Roman" panose="02020603050405020304" pitchFamily="18" charset="0"/>
            </a:endParaRPr>
          </a:p>
          <a:p>
            <a:pPr marL="171450" indent="-171450" algn="l">
              <a:lnSpc>
                <a:spcPct val="110000"/>
              </a:lnSpc>
              <a:spcAft>
                <a:spcPts val="250"/>
              </a:spcAft>
              <a:buSzPct val="100000"/>
              <a:buFont typeface="Arial" panose="020B0604020202020204" pitchFamily="34" charset="0"/>
              <a:buChar char="•"/>
            </a:pPr>
            <a:r>
              <a:rPr lang="en-US" sz="1020" dirty="0">
                <a:solidFill>
                  <a:srgbClr val="1E2A38"/>
                </a:solidFill>
                <a:latin typeface="Times New Roman" panose="02020603050405020304" pitchFamily="18" charset="0"/>
                <a:ea typeface="Calibri" pitchFamily="34" charset="-122"/>
                <a:cs typeface="Times New Roman" panose="02020603050405020304" pitchFamily="18" charset="0"/>
              </a:rPr>
              <a:t>Compute descriptive and severity statistics</a:t>
            </a:r>
            <a:endParaRPr lang="en-US" sz="1020" dirty="0">
              <a:latin typeface="Times New Roman" panose="02020603050405020304" pitchFamily="18" charset="0"/>
              <a:cs typeface="Times New Roman" panose="02020603050405020304" pitchFamily="18" charset="0"/>
            </a:endParaRPr>
          </a:p>
          <a:p>
            <a:pPr marL="171450" indent="-171450" algn="l">
              <a:lnSpc>
                <a:spcPct val="110000"/>
              </a:lnSpc>
              <a:spcAft>
                <a:spcPts val="250"/>
              </a:spcAft>
              <a:buSzPct val="100000"/>
              <a:buFont typeface="Arial" panose="020B0604020202020204" pitchFamily="34" charset="0"/>
              <a:buChar char="•"/>
            </a:pPr>
            <a:r>
              <a:rPr lang="en-US" sz="1020" dirty="0">
                <a:solidFill>
                  <a:srgbClr val="1E2A38"/>
                </a:solidFill>
                <a:latin typeface="Times New Roman" panose="02020603050405020304" pitchFamily="18" charset="0"/>
                <a:ea typeface="Calibri" pitchFamily="34" charset="-122"/>
                <a:cs typeface="Times New Roman" panose="02020603050405020304" pitchFamily="18" charset="0"/>
              </a:rPr>
              <a:t>Examine accidents by time, weather and road type</a:t>
            </a:r>
            <a:endParaRPr lang="en-US" sz="1020" dirty="0">
              <a:latin typeface="Times New Roman" panose="02020603050405020304" pitchFamily="18" charset="0"/>
              <a:cs typeface="Times New Roman" panose="02020603050405020304" pitchFamily="18" charset="0"/>
            </a:endParaRPr>
          </a:p>
          <a:p>
            <a:pPr marL="171450" indent="-171450" algn="l">
              <a:lnSpc>
                <a:spcPct val="110000"/>
              </a:lnSpc>
              <a:spcAft>
                <a:spcPts val="250"/>
              </a:spcAft>
              <a:buSzPct val="100000"/>
              <a:buFont typeface="Arial" panose="020B0604020202020204" pitchFamily="34" charset="0"/>
              <a:buChar char="•"/>
            </a:pPr>
            <a:r>
              <a:rPr lang="en-US" sz="1020" dirty="0">
                <a:solidFill>
                  <a:srgbClr val="1E2A38"/>
                </a:solidFill>
                <a:latin typeface="Times New Roman" panose="02020603050405020304" pitchFamily="18" charset="0"/>
                <a:ea typeface="Calibri" pitchFamily="34" charset="-122"/>
                <a:cs typeface="Times New Roman" panose="02020603050405020304" pitchFamily="18" charset="0"/>
              </a:rPr>
              <a:t>Identify the key risk factors influencing severity</a:t>
            </a:r>
            <a:endParaRPr lang="en-US" sz="1020" dirty="0">
              <a:latin typeface="Times New Roman" panose="02020603050405020304" pitchFamily="18" charset="0"/>
              <a:cs typeface="Times New Roman" panose="02020603050405020304" pitchFamily="18" charset="0"/>
            </a:endParaRPr>
          </a:p>
          <a:p>
            <a:pPr marL="171450" indent="-171450" algn="l">
              <a:lnSpc>
                <a:spcPct val="110000"/>
              </a:lnSpc>
              <a:spcAft>
                <a:spcPts val="250"/>
              </a:spcAft>
              <a:buSzPct val="100000"/>
              <a:buFont typeface="Arial" panose="020B0604020202020204" pitchFamily="34" charset="0"/>
              <a:buChar char="•"/>
            </a:pPr>
            <a:r>
              <a:rPr lang="en-US" sz="1020" dirty="0">
                <a:solidFill>
                  <a:srgbClr val="1E2A38"/>
                </a:solidFill>
                <a:latin typeface="Times New Roman" panose="02020603050405020304" pitchFamily="18" charset="0"/>
                <a:ea typeface="Calibri" pitchFamily="34" charset="-122"/>
                <a:cs typeface="Times New Roman" panose="02020603050405020304" pitchFamily="18" charset="0"/>
              </a:rPr>
              <a:t>Translate findings into actionable safety recommendations</a:t>
            </a:r>
            <a:endParaRPr lang="en-US" sz="1020" dirty="0">
              <a:latin typeface="Times New Roman" panose="02020603050405020304" pitchFamily="18" charset="0"/>
              <a:cs typeface="Times New Roman" panose="02020603050405020304" pitchFamily="18" charset="0"/>
            </a:endParaRPr>
          </a:p>
        </p:txBody>
      </p:sp>
      <p:sp>
        <p:nvSpPr>
          <p:cNvPr id="38" name="Shape 29"/>
          <p:cNvSpPr/>
          <p:nvPr/>
        </p:nvSpPr>
        <p:spPr>
          <a:xfrm>
            <a:off x="320040" y="6144768"/>
            <a:ext cx="10049256" cy="475488"/>
          </a:xfrm>
          <a:prstGeom prst="roundRect">
            <a:avLst>
              <a:gd name="adj" fmla="val 13462"/>
            </a:avLst>
          </a:prstGeom>
          <a:solidFill>
            <a:schemeClr val="accent5">
              <a:lumMod val="50000"/>
            </a:schemeClr>
          </a:solidFill>
          <a:ln/>
          <a:effectLst>
            <a:outerShdw blurRad="101600" dist="38100" dir="5400000" algn="bl" rotWithShape="0">
              <a:srgbClr val="0A1F35">
                <a:alpha val="18000"/>
              </a:srgbClr>
            </a:outerShdw>
          </a:effectLst>
        </p:spPr>
        <p:txBody>
          <a:bodyPr/>
          <a:lstStyle/>
          <a:p>
            <a:endParaRPr lang="en-IN" dirty="0"/>
          </a:p>
        </p:txBody>
      </p:sp>
      <p:sp>
        <p:nvSpPr>
          <p:cNvPr id="39" name="Shape 30"/>
          <p:cNvSpPr/>
          <p:nvPr/>
        </p:nvSpPr>
        <p:spPr>
          <a:xfrm>
            <a:off x="457200" y="6227064"/>
            <a:ext cx="310896" cy="310896"/>
          </a:xfrm>
          <a:prstGeom prst="ellipse">
            <a:avLst/>
          </a:prstGeom>
          <a:solidFill>
            <a:srgbClr val="E28B26"/>
          </a:solidFill>
          <a:ln/>
        </p:spPr>
      </p:sp>
      <p:sp>
        <p:nvSpPr>
          <p:cNvPr id="40" name="Text 31"/>
          <p:cNvSpPr/>
          <p:nvPr/>
        </p:nvSpPr>
        <p:spPr>
          <a:xfrm>
            <a:off x="457200" y="6227064"/>
            <a:ext cx="310896" cy="310896"/>
          </a:xfrm>
          <a:prstGeom prst="rect">
            <a:avLst/>
          </a:prstGeom>
          <a:noFill/>
          <a:ln/>
        </p:spPr>
        <p:txBody>
          <a:bodyPr wrap="square" lIns="0" tIns="0" rIns="0" bIns="0" rtlCol="0" anchor="ctr"/>
          <a:lstStyle/>
          <a:p>
            <a:pPr marL="0" indent="0" algn="ctr">
              <a:buNone/>
            </a:pPr>
            <a:r>
              <a:rPr lang="en-US" sz="1400" b="1" dirty="0">
                <a:solidFill>
                  <a:srgbClr val="0F2A47"/>
                </a:solidFill>
                <a:latin typeface="Calibri" pitchFamily="34" charset="0"/>
                <a:ea typeface="Calibri" pitchFamily="34" charset="-122"/>
                <a:cs typeface="Calibri" pitchFamily="34" charset="-120"/>
              </a:rPr>
              <a:t>2</a:t>
            </a:r>
            <a:endParaRPr lang="en-US" sz="1400" dirty="0"/>
          </a:p>
        </p:txBody>
      </p:sp>
      <p:pic>
        <p:nvPicPr>
          <p:cNvPr id="41" name="Image 7" descr="icon_dataset.png"/>
          <p:cNvPicPr>
            <a:picLocks noChangeAspect="1"/>
          </p:cNvPicPr>
          <p:nvPr/>
        </p:nvPicPr>
        <p:blipFill>
          <a:blip r:embed="rId9"/>
          <a:stretch>
            <a:fillRect/>
          </a:stretch>
        </p:blipFill>
        <p:spPr>
          <a:xfrm>
            <a:off x="896112" y="6245352"/>
            <a:ext cx="274320" cy="274320"/>
          </a:xfrm>
          <a:prstGeom prst="rect">
            <a:avLst/>
          </a:prstGeom>
        </p:spPr>
      </p:pic>
      <p:sp>
        <p:nvSpPr>
          <p:cNvPr id="42" name="Text 32"/>
          <p:cNvSpPr/>
          <p:nvPr/>
        </p:nvSpPr>
        <p:spPr>
          <a:xfrm>
            <a:off x="1261872" y="6144768"/>
            <a:ext cx="8961120" cy="475488"/>
          </a:xfrm>
          <a:prstGeom prst="rect">
            <a:avLst/>
          </a:prstGeom>
          <a:noFill/>
          <a:ln/>
        </p:spPr>
        <p:txBody>
          <a:bodyPr wrap="square" lIns="0" tIns="0" rIns="0" bIns="0" rtlCol="0" anchor="ctr"/>
          <a:lstStyle/>
          <a:p>
            <a:pPr marL="0" indent="0" algn="l">
              <a:buNone/>
            </a:pPr>
            <a:r>
              <a:rPr lang="en-US" sz="1650" b="1" kern="0" spc="50" dirty="0">
                <a:solidFill>
                  <a:srgbClr val="FFFFFF"/>
                </a:solidFill>
                <a:latin typeface="Times New Roman" panose="02020603050405020304" pitchFamily="18" charset="0"/>
                <a:ea typeface="Cambria" pitchFamily="34" charset="-122"/>
                <a:cs typeface="Times New Roman" panose="02020603050405020304" pitchFamily="18" charset="0"/>
              </a:rPr>
              <a:t>DATASET &amp; STUDY DETAILS</a:t>
            </a:r>
            <a:endParaRPr lang="en-US" sz="1650" dirty="0">
              <a:latin typeface="Times New Roman" panose="02020603050405020304" pitchFamily="18" charset="0"/>
              <a:cs typeface="Times New Roman" panose="02020603050405020304" pitchFamily="18" charset="0"/>
            </a:endParaRPr>
          </a:p>
        </p:txBody>
      </p:sp>
      <p:sp>
        <p:nvSpPr>
          <p:cNvPr id="43" name="Shape 33"/>
          <p:cNvSpPr/>
          <p:nvPr/>
        </p:nvSpPr>
        <p:spPr>
          <a:xfrm>
            <a:off x="411480" y="6876288"/>
            <a:ext cx="1810512" cy="960120"/>
          </a:xfrm>
          <a:prstGeom prst="roundRect">
            <a:avLst>
              <a:gd name="adj" fmla="val 8571"/>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44" name="Shape 34"/>
          <p:cNvSpPr/>
          <p:nvPr/>
        </p:nvSpPr>
        <p:spPr>
          <a:xfrm>
            <a:off x="557784" y="6986016"/>
            <a:ext cx="292608" cy="292608"/>
          </a:xfrm>
          <a:prstGeom prst="ellipse">
            <a:avLst/>
          </a:prstGeom>
          <a:solidFill>
            <a:srgbClr val="FDF1E2"/>
          </a:solidFill>
          <a:ln/>
        </p:spPr>
      </p:sp>
      <p:pic>
        <p:nvPicPr>
          <p:cNvPr id="45" name="Image 8" descr="icon_dataset.png"/>
          <p:cNvPicPr>
            <a:picLocks noChangeAspect="1"/>
          </p:cNvPicPr>
          <p:nvPr/>
        </p:nvPicPr>
        <p:blipFill>
          <a:blip r:embed="rId9"/>
          <a:stretch>
            <a:fillRect/>
          </a:stretch>
        </p:blipFill>
        <p:spPr>
          <a:xfrm>
            <a:off x="595823" y="7024055"/>
            <a:ext cx="216530" cy="216530"/>
          </a:xfrm>
          <a:prstGeom prst="rect">
            <a:avLst/>
          </a:prstGeom>
        </p:spPr>
      </p:pic>
      <p:sp>
        <p:nvSpPr>
          <p:cNvPr id="46" name="Text 35"/>
          <p:cNvSpPr/>
          <p:nvPr/>
        </p:nvSpPr>
        <p:spPr>
          <a:xfrm>
            <a:off x="484632" y="6986016"/>
            <a:ext cx="1664208" cy="254569"/>
          </a:xfrm>
          <a:prstGeom prst="rect">
            <a:avLst/>
          </a:prstGeom>
          <a:noFill/>
          <a:ln/>
        </p:spPr>
        <p:txBody>
          <a:bodyPr wrap="square" lIns="0" tIns="0" rIns="0" bIns="0" rtlCol="0" anchor="ctr"/>
          <a:lstStyle/>
          <a:p>
            <a:pPr marL="0" indent="0" algn="ctr">
              <a:buNone/>
            </a:pPr>
            <a:r>
              <a:rPr lang="en-US" sz="830" b="1" kern="0" spc="50" dirty="0">
                <a:solidFill>
                  <a:srgbClr val="60707F"/>
                </a:solidFill>
                <a:latin typeface="Calibri" pitchFamily="34" charset="0"/>
                <a:ea typeface="Calibri" pitchFamily="34" charset="-122"/>
                <a:cs typeface="Calibri" pitchFamily="34" charset="-120"/>
              </a:rPr>
              <a:t>DATASET</a:t>
            </a:r>
            <a:endParaRPr lang="en-US" sz="830" dirty="0"/>
          </a:p>
        </p:txBody>
      </p:sp>
      <p:sp>
        <p:nvSpPr>
          <p:cNvPr id="47" name="Text 36"/>
          <p:cNvSpPr/>
          <p:nvPr/>
        </p:nvSpPr>
        <p:spPr>
          <a:xfrm>
            <a:off x="484632" y="7341169"/>
            <a:ext cx="1664208" cy="476951"/>
          </a:xfrm>
          <a:prstGeom prst="rect">
            <a:avLst/>
          </a:prstGeom>
          <a:noFill/>
          <a:ln/>
        </p:spPr>
        <p:txBody>
          <a:bodyPr wrap="square" lIns="0" tIns="0" rIns="0" bIns="0" rtlCol="0" anchor="t"/>
          <a:lstStyle/>
          <a:p>
            <a:pPr marL="0" indent="0" algn="ctr">
              <a:lnSpc>
                <a:spcPct val="108000"/>
              </a:lnSpc>
              <a:buNone/>
            </a:pPr>
            <a:r>
              <a:rPr lang="en-US" sz="1100" b="1" dirty="0">
                <a:solidFill>
                  <a:srgbClr val="0F2A47"/>
                </a:solidFill>
                <a:latin typeface="Times New Roman" panose="02020603050405020304" pitchFamily="18" charset="0"/>
                <a:ea typeface="Calibri" pitchFamily="34" charset="-122"/>
                <a:cs typeface="Times New Roman" panose="02020603050405020304" pitchFamily="18" charset="0"/>
              </a:rPr>
              <a:t>Road Accidents</a:t>
            </a:r>
            <a:endParaRPr lang="en-US" sz="1100" dirty="0">
              <a:latin typeface="Times New Roman" panose="02020603050405020304" pitchFamily="18" charset="0"/>
              <a:cs typeface="Times New Roman" panose="02020603050405020304" pitchFamily="18" charset="0"/>
            </a:endParaRPr>
          </a:p>
          <a:p>
            <a:pPr marL="0" indent="0" algn="ctr">
              <a:lnSpc>
                <a:spcPct val="108000"/>
              </a:lnSpc>
              <a:buNone/>
            </a:pPr>
            <a:r>
              <a:rPr lang="en-US" sz="1100" b="1" dirty="0">
                <a:solidFill>
                  <a:srgbClr val="0F2A47"/>
                </a:solidFill>
                <a:latin typeface="Times New Roman" panose="02020603050405020304" pitchFamily="18" charset="0"/>
                <a:ea typeface="Calibri" pitchFamily="34" charset="-122"/>
                <a:cs typeface="Times New Roman" panose="02020603050405020304" pitchFamily="18" charset="0"/>
              </a:rPr>
              <a:t>(2019–2023)</a:t>
            </a:r>
            <a:endParaRPr lang="en-US" sz="1100" dirty="0">
              <a:latin typeface="Times New Roman" panose="02020603050405020304" pitchFamily="18" charset="0"/>
              <a:cs typeface="Times New Roman" panose="02020603050405020304" pitchFamily="18" charset="0"/>
            </a:endParaRPr>
          </a:p>
        </p:txBody>
      </p:sp>
      <p:sp>
        <p:nvSpPr>
          <p:cNvPr id="48" name="Shape 37"/>
          <p:cNvSpPr/>
          <p:nvPr/>
        </p:nvSpPr>
        <p:spPr>
          <a:xfrm>
            <a:off x="2404872" y="6876288"/>
            <a:ext cx="1810512" cy="960120"/>
          </a:xfrm>
          <a:prstGeom prst="roundRect">
            <a:avLst>
              <a:gd name="adj" fmla="val 8571"/>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49" name="Shape 38"/>
          <p:cNvSpPr/>
          <p:nvPr/>
        </p:nvSpPr>
        <p:spPr>
          <a:xfrm>
            <a:off x="2551176" y="6986016"/>
            <a:ext cx="292608" cy="292608"/>
          </a:xfrm>
          <a:prstGeom prst="ellipse">
            <a:avLst/>
          </a:prstGeom>
          <a:solidFill>
            <a:srgbClr val="FDF1E2"/>
          </a:solidFill>
          <a:ln/>
        </p:spPr>
      </p:sp>
      <p:pic>
        <p:nvPicPr>
          <p:cNvPr id="50" name="Image 9" descr="icon_region.png"/>
          <p:cNvPicPr>
            <a:picLocks noChangeAspect="1"/>
          </p:cNvPicPr>
          <p:nvPr/>
        </p:nvPicPr>
        <p:blipFill>
          <a:blip r:embed="rId10"/>
          <a:stretch>
            <a:fillRect/>
          </a:stretch>
        </p:blipFill>
        <p:spPr>
          <a:xfrm>
            <a:off x="2589215" y="7024055"/>
            <a:ext cx="216530" cy="216530"/>
          </a:xfrm>
          <a:prstGeom prst="rect">
            <a:avLst/>
          </a:prstGeom>
        </p:spPr>
      </p:pic>
      <p:sp>
        <p:nvSpPr>
          <p:cNvPr id="51" name="Text 39"/>
          <p:cNvSpPr/>
          <p:nvPr/>
        </p:nvSpPr>
        <p:spPr>
          <a:xfrm>
            <a:off x="2478024" y="6903720"/>
            <a:ext cx="1664208" cy="437449"/>
          </a:xfrm>
          <a:prstGeom prst="rect">
            <a:avLst/>
          </a:prstGeom>
          <a:noFill/>
          <a:ln/>
        </p:spPr>
        <p:txBody>
          <a:bodyPr wrap="square" lIns="0" tIns="0" rIns="0" bIns="0" rtlCol="0" anchor="ctr"/>
          <a:lstStyle/>
          <a:p>
            <a:pPr marL="0" indent="0" algn="ctr">
              <a:buNone/>
            </a:pPr>
            <a:r>
              <a:rPr lang="en-US" sz="830" b="1" kern="0" spc="50" dirty="0">
                <a:solidFill>
                  <a:srgbClr val="60707F"/>
                </a:solidFill>
                <a:latin typeface="Calibri" pitchFamily="34" charset="0"/>
                <a:ea typeface="Calibri" pitchFamily="34" charset="-122"/>
                <a:cs typeface="Calibri" pitchFamily="34" charset="-120"/>
              </a:rPr>
              <a:t>REGION</a:t>
            </a:r>
            <a:endParaRPr lang="en-US" sz="830" dirty="0"/>
          </a:p>
        </p:txBody>
      </p:sp>
      <p:sp>
        <p:nvSpPr>
          <p:cNvPr id="52" name="Text 40"/>
          <p:cNvSpPr/>
          <p:nvPr/>
        </p:nvSpPr>
        <p:spPr>
          <a:xfrm>
            <a:off x="2478024" y="7351776"/>
            <a:ext cx="1664208" cy="466344"/>
          </a:xfrm>
          <a:prstGeom prst="rect">
            <a:avLst/>
          </a:prstGeom>
          <a:noFill/>
          <a:ln/>
        </p:spPr>
        <p:txBody>
          <a:bodyPr wrap="square" lIns="0" tIns="0" rIns="0" bIns="0" rtlCol="0" anchor="t"/>
          <a:lstStyle/>
          <a:p>
            <a:pPr marL="0" indent="0" algn="ctr">
              <a:lnSpc>
                <a:spcPct val="108000"/>
              </a:lnSpc>
              <a:buNone/>
            </a:pPr>
            <a:r>
              <a:rPr lang="en-US" sz="1100" b="1" dirty="0">
                <a:solidFill>
                  <a:srgbClr val="0F2A47"/>
                </a:solidFill>
                <a:latin typeface="Times New Roman" panose="02020603050405020304" pitchFamily="18" charset="0"/>
                <a:ea typeface="Calibri" pitchFamily="34" charset="-122"/>
                <a:cs typeface="Times New Roman" panose="02020603050405020304" pitchFamily="18" charset="0"/>
              </a:rPr>
              <a:t>Pan-India</a:t>
            </a:r>
            <a:endParaRPr lang="en-US" sz="1100" dirty="0">
              <a:latin typeface="Times New Roman" panose="02020603050405020304" pitchFamily="18" charset="0"/>
              <a:cs typeface="Times New Roman" panose="02020603050405020304" pitchFamily="18" charset="0"/>
            </a:endParaRPr>
          </a:p>
        </p:txBody>
      </p:sp>
      <p:sp>
        <p:nvSpPr>
          <p:cNvPr id="53" name="Shape 41"/>
          <p:cNvSpPr/>
          <p:nvPr/>
        </p:nvSpPr>
        <p:spPr>
          <a:xfrm>
            <a:off x="4398264" y="6876288"/>
            <a:ext cx="1810512" cy="960120"/>
          </a:xfrm>
          <a:prstGeom prst="roundRect">
            <a:avLst>
              <a:gd name="adj" fmla="val 8571"/>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54" name="Shape 42"/>
          <p:cNvSpPr/>
          <p:nvPr/>
        </p:nvSpPr>
        <p:spPr>
          <a:xfrm>
            <a:off x="4544568" y="6986016"/>
            <a:ext cx="292608" cy="292608"/>
          </a:xfrm>
          <a:prstGeom prst="ellipse">
            <a:avLst/>
          </a:prstGeom>
          <a:solidFill>
            <a:srgbClr val="FDF1E2"/>
          </a:solidFill>
          <a:ln/>
        </p:spPr>
      </p:sp>
      <p:pic>
        <p:nvPicPr>
          <p:cNvPr id="55" name="Image 10" descr="icon_variable.png"/>
          <p:cNvPicPr>
            <a:picLocks noChangeAspect="1"/>
          </p:cNvPicPr>
          <p:nvPr/>
        </p:nvPicPr>
        <p:blipFill>
          <a:blip r:embed="rId11"/>
          <a:stretch>
            <a:fillRect/>
          </a:stretch>
        </p:blipFill>
        <p:spPr>
          <a:xfrm>
            <a:off x="4582607" y="7024055"/>
            <a:ext cx="216530" cy="216530"/>
          </a:xfrm>
          <a:prstGeom prst="rect">
            <a:avLst/>
          </a:prstGeom>
        </p:spPr>
      </p:pic>
      <p:sp>
        <p:nvSpPr>
          <p:cNvPr id="56" name="Text 43"/>
          <p:cNvSpPr/>
          <p:nvPr/>
        </p:nvSpPr>
        <p:spPr>
          <a:xfrm>
            <a:off x="4471416" y="6986016"/>
            <a:ext cx="1664208" cy="265176"/>
          </a:xfrm>
          <a:prstGeom prst="rect">
            <a:avLst/>
          </a:prstGeom>
          <a:noFill/>
          <a:ln/>
        </p:spPr>
        <p:txBody>
          <a:bodyPr wrap="square" lIns="0" tIns="0" rIns="0" bIns="0" rtlCol="0" anchor="ctr"/>
          <a:lstStyle/>
          <a:p>
            <a:pPr marL="0" indent="0" algn="ctr">
              <a:buNone/>
            </a:pPr>
            <a:r>
              <a:rPr lang="en-US" sz="830" b="1" kern="0" spc="50" dirty="0">
                <a:solidFill>
                  <a:srgbClr val="60707F"/>
                </a:solidFill>
                <a:latin typeface="Calibri" pitchFamily="34" charset="0"/>
                <a:ea typeface="Calibri" pitchFamily="34" charset="-122"/>
                <a:cs typeface="Calibri" pitchFamily="34" charset="-120"/>
              </a:rPr>
              <a:t>VARIABLE</a:t>
            </a:r>
            <a:endParaRPr lang="en-US" sz="830" dirty="0"/>
          </a:p>
        </p:txBody>
      </p:sp>
      <p:sp>
        <p:nvSpPr>
          <p:cNvPr id="57" name="Text 44"/>
          <p:cNvSpPr/>
          <p:nvPr/>
        </p:nvSpPr>
        <p:spPr>
          <a:xfrm>
            <a:off x="4471416" y="7351776"/>
            <a:ext cx="1664208" cy="466344"/>
          </a:xfrm>
          <a:prstGeom prst="rect">
            <a:avLst/>
          </a:prstGeom>
          <a:noFill/>
          <a:ln/>
        </p:spPr>
        <p:txBody>
          <a:bodyPr wrap="square" lIns="0" tIns="0" rIns="0" bIns="0" rtlCol="0" anchor="t"/>
          <a:lstStyle/>
          <a:p>
            <a:pPr marL="0" indent="0" algn="ctr">
              <a:lnSpc>
                <a:spcPct val="108000"/>
              </a:lnSpc>
              <a:buNone/>
            </a:pPr>
            <a:r>
              <a:rPr lang="en-US" sz="1100" b="1" dirty="0">
                <a:solidFill>
                  <a:srgbClr val="0F2A47"/>
                </a:solidFill>
                <a:latin typeface="Times New Roman" panose="02020603050405020304" pitchFamily="18" charset="0"/>
                <a:ea typeface="Calibri" pitchFamily="34" charset="-122"/>
                <a:cs typeface="Times New Roman" panose="02020603050405020304" pitchFamily="18" charset="0"/>
              </a:rPr>
              <a:t>Accident severity</a:t>
            </a:r>
            <a:endParaRPr lang="en-US" sz="1100" dirty="0">
              <a:latin typeface="Times New Roman" panose="02020603050405020304" pitchFamily="18" charset="0"/>
              <a:cs typeface="Times New Roman" panose="02020603050405020304" pitchFamily="18" charset="0"/>
            </a:endParaRPr>
          </a:p>
        </p:txBody>
      </p:sp>
      <p:sp>
        <p:nvSpPr>
          <p:cNvPr id="58" name="Shape 45"/>
          <p:cNvSpPr/>
          <p:nvPr/>
        </p:nvSpPr>
        <p:spPr>
          <a:xfrm>
            <a:off x="6391656" y="6876288"/>
            <a:ext cx="1810512" cy="960120"/>
          </a:xfrm>
          <a:prstGeom prst="roundRect">
            <a:avLst>
              <a:gd name="adj" fmla="val 8571"/>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59" name="Shape 46"/>
          <p:cNvSpPr/>
          <p:nvPr/>
        </p:nvSpPr>
        <p:spPr>
          <a:xfrm>
            <a:off x="6537960" y="6986016"/>
            <a:ext cx="292608" cy="292608"/>
          </a:xfrm>
          <a:prstGeom prst="ellipse">
            <a:avLst/>
          </a:prstGeom>
          <a:solidFill>
            <a:srgbClr val="FDF1E2"/>
          </a:solidFill>
          <a:ln/>
        </p:spPr>
      </p:sp>
      <p:pic>
        <p:nvPicPr>
          <p:cNvPr id="60" name="Image 11" descr="icon_observations.png"/>
          <p:cNvPicPr>
            <a:picLocks noChangeAspect="1"/>
          </p:cNvPicPr>
          <p:nvPr/>
        </p:nvPicPr>
        <p:blipFill>
          <a:blip r:embed="rId5"/>
          <a:stretch>
            <a:fillRect/>
          </a:stretch>
        </p:blipFill>
        <p:spPr>
          <a:xfrm>
            <a:off x="6575999" y="7024055"/>
            <a:ext cx="216530" cy="216530"/>
          </a:xfrm>
          <a:prstGeom prst="rect">
            <a:avLst/>
          </a:prstGeom>
        </p:spPr>
      </p:pic>
      <p:sp>
        <p:nvSpPr>
          <p:cNvPr id="61" name="Text 47"/>
          <p:cNvSpPr/>
          <p:nvPr/>
        </p:nvSpPr>
        <p:spPr>
          <a:xfrm>
            <a:off x="6464808" y="6876288"/>
            <a:ext cx="1664208" cy="475488"/>
          </a:xfrm>
          <a:prstGeom prst="rect">
            <a:avLst/>
          </a:prstGeom>
          <a:noFill/>
          <a:ln/>
        </p:spPr>
        <p:txBody>
          <a:bodyPr wrap="square" lIns="0" tIns="0" rIns="0" bIns="0" rtlCol="0" anchor="ctr"/>
          <a:lstStyle/>
          <a:p>
            <a:pPr marL="0" indent="0" algn="ctr">
              <a:buNone/>
            </a:pPr>
            <a:r>
              <a:rPr lang="en-US" sz="830" b="1" kern="0" spc="50" dirty="0">
                <a:solidFill>
                  <a:srgbClr val="60707F"/>
                </a:solidFill>
                <a:latin typeface="Calibri" pitchFamily="34" charset="0"/>
                <a:ea typeface="Calibri" pitchFamily="34" charset="-122"/>
                <a:cs typeface="Calibri" pitchFamily="34" charset="-120"/>
              </a:rPr>
              <a:t>OBSERVATIONS</a:t>
            </a:r>
            <a:endParaRPr lang="en-US" sz="830" dirty="0"/>
          </a:p>
        </p:txBody>
      </p:sp>
      <p:sp>
        <p:nvSpPr>
          <p:cNvPr id="62" name="Text 48"/>
          <p:cNvSpPr/>
          <p:nvPr/>
        </p:nvSpPr>
        <p:spPr>
          <a:xfrm>
            <a:off x="6464808" y="7388352"/>
            <a:ext cx="1664208" cy="429768"/>
          </a:xfrm>
          <a:prstGeom prst="rect">
            <a:avLst/>
          </a:prstGeom>
          <a:noFill/>
          <a:ln/>
        </p:spPr>
        <p:txBody>
          <a:bodyPr wrap="square" lIns="0" tIns="0" rIns="0" bIns="0" rtlCol="0" anchor="t"/>
          <a:lstStyle/>
          <a:p>
            <a:pPr marL="0" indent="0" algn="ctr">
              <a:lnSpc>
                <a:spcPct val="108000"/>
              </a:lnSpc>
              <a:buNone/>
            </a:pPr>
            <a:r>
              <a:rPr lang="en-US" sz="1100" b="1" dirty="0">
                <a:solidFill>
                  <a:srgbClr val="0F2A47"/>
                </a:solidFill>
                <a:latin typeface="Times New Roman" panose="02020603050405020304" pitchFamily="18" charset="0"/>
                <a:ea typeface="Calibri" pitchFamily="34" charset="-122"/>
                <a:cs typeface="Times New Roman" panose="02020603050405020304" pitchFamily="18" charset="0"/>
              </a:rPr>
              <a:t>12,314</a:t>
            </a:r>
            <a:endParaRPr lang="en-US" sz="1100" dirty="0">
              <a:latin typeface="Times New Roman" panose="02020603050405020304" pitchFamily="18" charset="0"/>
              <a:cs typeface="Times New Roman" panose="02020603050405020304" pitchFamily="18" charset="0"/>
            </a:endParaRPr>
          </a:p>
        </p:txBody>
      </p:sp>
      <p:sp>
        <p:nvSpPr>
          <p:cNvPr id="63" name="Shape 49"/>
          <p:cNvSpPr/>
          <p:nvPr/>
        </p:nvSpPr>
        <p:spPr>
          <a:xfrm>
            <a:off x="8385048" y="6876288"/>
            <a:ext cx="1810512" cy="960120"/>
          </a:xfrm>
          <a:prstGeom prst="roundRect">
            <a:avLst>
              <a:gd name="adj" fmla="val 8571"/>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64" name="Shape 50"/>
          <p:cNvSpPr/>
          <p:nvPr/>
        </p:nvSpPr>
        <p:spPr>
          <a:xfrm>
            <a:off x="8531352" y="6986016"/>
            <a:ext cx="292608" cy="292608"/>
          </a:xfrm>
          <a:prstGeom prst="ellipse">
            <a:avLst/>
          </a:prstGeom>
          <a:solidFill>
            <a:srgbClr val="FDF1E2"/>
          </a:solidFill>
          <a:ln/>
        </p:spPr>
      </p:sp>
      <p:pic>
        <p:nvPicPr>
          <p:cNvPr id="65" name="Image 12" descr="icon_source.png"/>
          <p:cNvPicPr>
            <a:picLocks noChangeAspect="1"/>
          </p:cNvPicPr>
          <p:nvPr/>
        </p:nvPicPr>
        <p:blipFill>
          <a:blip r:embed="rId12"/>
          <a:stretch>
            <a:fillRect/>
          </a:stretch>
        </p:blipFill>
        <p:spPr>
          <a:xfrm>
            <a:off x="8569391" y="7024055"/>
            <a:ext cx="216530" cy="216530"/>
          </a:xfrm>
          <a:prstGeom prst="rect">
            <a:avLst/>
          </a:prstGeom>
        </p:spPr>
      </p:pic>
      <p:sp>
        <p:nvSpPr>
          <p:cNvPr id="66" name="Text 51"/>
          <p:cNvSpPr/>
          <p:nvPr/>
        </p:nvSpPr>
        <p:spPr>
          <a:xfrm>
            <a:off x="8458200" y="6986016"/>
            <a:ext cx="1664208" cy="265176"/>
          </a:xfrm>
          <a:prstGeom prst="rect">
            <a:avLst/>
          </a:prstGeom>
          <a:noFill/>
          <a:ln/>
        </p:spPr>
        <p:txBody>
          <a:bodyPr wrap="square" lIns="0" tIns="0" rIns="0" bIns="0" rtlCol="0" anchor="ctr"/>
          <a:lstStyle/>
          <a:p>
            <a:pPr marL="0" indent="0" algn="ctr">
              <a:buNone/>
            </a:pPr>
            <a:r>
              <a:rPr lang="en-US" sz="830" b="1" kern="0" spc="50" dirty="0">
                <a:solidFill>
                  <a:srgbClr val="60707F"/>
                </a:solidFill>
                <a:latin typeface="Calibri" pitchFamily="34" charset="0"/>
                <a:ea typeface="Calibri" pitchFamily="34" charset="-122"/>
                <a:cs typeface="Calibri" pitchFamily="34" charset="-120"/>
              </a:rPr>
              <a:t>SOURCE</a:t>
            </a:r>
            <a:endParaRPr lang="en-US" sz="830" dirty="0"/>
          </a:p>
        </p:txBody>
      </p:sp>
      <p:sp>
        <p:nvSpPr>
          <p:cNvPr id="67" name="Text 52"/>
          <p:cNvSpPr/>
          <p:nvPr/>
        </p:nvSpPr>
        <p:spPr>
          <a:xfrm>
            <a:off x="8458200" y="7351776"/>
            <a:ext cx="1664208" cy="466344"/>
          </a:xfrm>
          <a:prstGeom prst="rect">
            <a:avLst/>
          </a:prstGeom>
          <a:noFill/>
          <a:ln/>
        </p:spPr>
        <p:txBody>
          <a:bodyPr wrap="square" lIns="0" tIns="0" rIns="0" bIns="0" rtlCol="0" anchor="t"/>
          <a:lstStyle/>
          <a:p>
            <a:pPr marL="0" indent="0" algn="ctr">
              <a:lnSpc>
                <a:spcPct val="108000"/>
              </a:lnSpc>
              <a:buNone/>
            </a:pPr>
            <a:r>
              <a:rPr lang="en-US" sz="1100" b="1" dirty="0">
                <a:solidFill>
                  <a:srgbClr val="0F2A47"/>
                </a:solidFill>
                <a:latin typeface="Times New Roman" panose="02020603050405020304" pitchFamily="18" charset="0"/>
                <a:ea typeface="Calibri" pitchFamily="34" charset="-122"/>
                <a:cs typeface="Times New Roman" panose="02020603050405020304" pitchFamily="18" charset="0"/>
              </a:rPr>
              <a:t>Kaggle Road</a:t>
            </a:r>
            <a:endParaRPr lang="en-US" sz="1100" dirty="0">
              <a:latin typeface="Times New Roman" panose="02020603050405020304" pitchFamily="18" charset="0"/>
              <a:cs typeface="Times New Roman" panose="02020603050405020304" pitchFamily="18" charset="0"/>
            </a:endParaRPr>
          </a:p>
          <a:p>
            <a:pPr marL="0" indent="0" algn="ctr">
              <a:lnSpc>
                <a:spcPct val="108000"/>
              </a:lnSpc>
              <a:buNone/>
            </a:pPr>
            <a:r>
              <a:rPr lang="en-US" sz="1100" b="1" dirty="0">
                <a:solidFill>
                  <a:srgbClr val="0F2A47"/>
                </a:solidFill>
                <a:latin typeface="Times New Roman" panose="02020603050405020304" pitchFamily="18" charset="0"/>
                <a:ea typeface="Calibri" pitchFamily="34" charset="-122"/>
                <a:cs typeface="Times New Roman" panose="02020603050405020304" pitchFamily="18" charset="0"/>
              </a:rPr>
              <a:t>Accident Dataset</a:t>
            </a:r>
            <a:endParaRPr lang="en-US" sz="1100" dirty="0">
              <a:latin typeface="Times New Roman" panose="02020603050405020304" pitchFamily="18" charset="0"/>
              <a:cs typeface="Times New Roman" panose="02020603050405020304" pitchFamily="18" charset="0"/>
            </a:endParaRPr>
          </a:p>
        </p:txBody>
      </p:sp>
      <p:sp>
        <p:nvSpPr>
          <p:cNvPr id="68" name="Text 53"/>
          <p:cNvSpPr/>
          <p:nvPr/>
        </p:nvSpPr>
        <p:spPr>
          <a:xfrm>
            <a:off x="530352" y="8055864"/>
            <a:ext cx="9555480" cy="566928"/>
          </a:xfrm>
          <a:prstGeom prst="rect">
            <a:avLst/>
          </a:prstGeom>
          <a:noFill/>
          <a:ln/>
        </p:spPr>
        <p:txBody>
          <a:bodyPr wrap="square" lIns="0" tIns="0" rIns="0" bIns="0" rtlCol="0" anchor="t"/>
          <a:lstStyle/>
          <a:p>
            <a:pPr marL="0" indent="0" algn="l">
              <a:lnSpc>
                <a:spcPct val="116000"/>
              </a:lnSpc>
              <a:buNone/>
            </a:pPr>
            <a:r>
              <a:rPr lang="en-US" sz="1100" b="1" i="1" dirty="0">
                <a:solidFill>
                  <a:srgbClr val="60707F"/>
                </a:solidFill>
                <a:latin typeface="Times New Roman" panose="02020603050405020304" pitchFamily="18" charset="0"/>
                <a:ea typeface="Calibri" pitchFamily="34" charset="-122"/>
                <a:cs typeface="Times New Roman" panose="02020603050405020304" pitchFamily="18" charset="0"/>
              </a:rPr>
              <a:t>Each record captures the accident date, time, weather condition, road type, junction category, vehicle class and injury severity. This multi-field structure allows the dataset to be sliced along several dimensions at once, supporting a broad exploratory analysis rather than a single-variable summary</a:t>
            </a:r>
            <a:r>
              <a:rPr lang="en-US" sz="1100" i="1" dirty="0">
                <a:solidFill>
                  <a:srgbClr val="60707F"/>
                </a:solidFill>
                <a:latin typeface="Times New Roman" panose="02020603050405020304" pitchFamily="18" charset="0"/>
                <a:ea typeface="Calibri" pitchFamily="34" charset="-122"/>
                <a:cs typeface="Times New Roman" panose="02020603050405020304" pitchFamily="18" charset="0"/>
              </a:rPr>
              <a:t>.</a:t>
            </a:r>
            <a:endParaRPr lang="en-US" sz="1100" dirty="0">
              <a:latin typeface="Times New Roman" panose="02020603050405020304" pitchFamily="18" charset="0"/>
              <a:cs typeface="Times New Roman" panose="02020603050405020304" pitchFamily="18" charset="0"/>
            </a:endParaRPr>
          </a:p>
        </p:txBody>
      </p:sp>
      <p:sp>
        <p:nvSpPr>
          <p:cNvPr id="69" name="Shape 54"/>
          <p:cNvSpPr/>
          <p:nvPr/>
        </p:nvSpPr>
        <p:spPr>
          <a:xfrm>
            <a:off x="320040" y="8897112"/>
            <a:ext cx="10049256" cy="475488"/>
          </a:xfrm>
          <a:prstGeom prst="roundRect">
            <a:avLst>
              <a:gd name="adj" fmla="val 13462"/>
            </a:avLst>
          </a:prstGeom>
          <a:solidFill>
            <a:schemeClr val="accent5">
              <a:lumMod val="50000"/>
            </a:schemeClr>
          </a:solidFill>
          <a:ln/>
          <a:effectLst>
            <a:outerShdw blurRad="101600" dist="38100" dir="5400000" algn="bl" rotWithShape="0">
              <a:srgbClr val="0A1F35">
                <a:alpha val="18000"/>
              </a:srgbClr>
            </a:outerShdw>
          </a:effectLst>
        </p:spPr>
      </p:sp>
      <p:sp>
        <p:nvSpPr>
          <p:cNvPr id="70" name="Shape 55"/>
          <p:cNvSpPr/>
          <p:nvPr/>
        </p:nvSpPr>
        <p:spPr>
          <a:xfrm>
            <a:off x="457200" y="8979408"/>
            <a:ext cx="310896" cy="310896"/>
          </a:xfrm>
          <a:prstGeom prst="ellipse">
            <a:avLst/>
          </a:prstGeom>
          <a:solidFill>
            <a:srgbClr val="E28B26"/>
          </a:solidFill>
          <a:ln/>
        </p:spPr>
      </p:sp>
      <p:sp>
        <p:nvSpPr>
          <p:cNvPr id="71" name="Text 56"/>
          <p:cNvSpPr/>
          <p:nvPr/>
        </p:nvSpPr>
        <p:spPr>
          <a:xfrm>
            <a:off x="457200" y="8979408"/>
            <a:ext cx="310896" cy="310896"/>
          </a:xfrm>
          <a:prstGeom prst="rect">
            <a:avLst/>
          </a:prstGeom>
          <a:noFill/>
          <a:ln/>
        </p:spPr>
        <p:txBody>
          <a:bodyPr wrap="square" lIns="0" tIns="0" rIns="0" bIns="0" rtlCol="0" anchor="ctr"/>
          <a:lstStyle/>
          <a:p>
            <a:pPr marL="0" indent="0" algn="ctr">
              <a:buNone/>
            </a:pPr>
            <a:r>
              <a:rPr lang="en-US" sz="1400" b="1" dirty="0">
                <a:solidFill>
                  <a:srgbClr val="0F2A47"/>
                </a:solidFill>
                <a:latin typeface="Calibri" pitchFamily="34" charset="0"/>
                <a:ea typeface="Calibri" pitchFamily="34" charset="-122"/>
                <a:cs typeface="Calibri" pitchFamily="34" charset="-120"/>
              </a:rPr>
              <a:t>3</a:t>
            </a:r>
            <a:endParaRPr lang="en-US" sz="1400" dirty="0"/>
          </a:p>
        </p:txBody>
      </p:sp>
      <p:pic>
        <p:nvPicPr>
          <p:cNvPr id="72" name="Image 13" descr="icon_riskfactors.png"/>
          <p:cNvPicPr>
            <a:picLocks noChangeAspect="1"/>
          </p:cNvPicPr>
          <p:nvPr/>
        </p:nvPicPr>
        <p:blipFill>
          <a:blip r:embed="rId13"/>
          <a:stretch>
            <a:fillRect/>
          </a:stretch>
        </p:blipFill>
        <p:spPr>
          <a:xfrm>
            <a:off x="896112" y="8997696"/>
            <a:ext cx="274320" cy="274320"/>
          </a:xfrm>
          <a:prstGeom prst="rect">
            <a:avLst/>
          </a:prstGeom>
        </p:spPr>
      </p:pic>
      <p:sp>
        <p:nvSpPr>
          <p:cNvPr id="73" name="Text 57"/>
          <p:cNvSpPr/>
          <p:nvPr/>
        </p:nvSpPr>
        <p:spPr>
          <a:xfrm>
            <a:off x="1261872" y="8897112"/>
            <a:ext cx="8961120" cy="475488"/>
          </a:xfrm>
          <a:prstGeom prst="rect">
            <a:avLst/>
          </a:prstGeom>
          <a:noFill/>
          <a:ln/>
        </p:spPr>
        <p:txBody>
          <a:bodyPr wrap="square" lIns="0" tIns="0" rIns="0" bIns="0" rtlCol="0" anchor="ctr"/>
          <a:lstStyle/>
          <a:p>
            <a:pPr marL="0" indent="0" algn="l">
              <a:buNone/>
            </a:pPr>
            <a:r>
              <a:rPr lang="en-US" sz="1650" b="1" kern="0" spc="50" dirty="0">
                <a:solidFill>
                  <a:srgbClr val="FFFFFF"/>
                </a:solidFill>
                <a:latin typeface="Times New Roman" panose="02020603050405020304" pitchFamily="18" charset="0"/>
                <a:ea typeface="Cambria" pitchFamily="34" charset="-122"/>
                <a:cs typeface="Times New Roman" panose="02020603050405020304" pitchFamily="18" charset="0"/>
              </a:rPr>
              <a:t>ARCHITECTURE / METHODOLOGY</a:t>
            </a:r>
            <a:endParaRPr lang="en-US" sz="1650" dirty="0">
              <a:latin typeface="Times New Roman" panose="02020603050405020304" pitchFamily="18" charset="0"/>
              <a:cs typeface="Times New Roman" panose="02020603050405020304" pitchFamily="18" charset="0"/>
            </a:endParaRPr>
          </a:p>
        </p:txBody>
      </p:sp>
      <p:sp>
        <p:nvSpPr>
          <p:cNvPr id="74" name="Shape 58"/>
          <p:cNvSpPr/>
          <p:nvPr/>
        </p:nvSpPr>
        <p:spPr>
          <a:xfrm>
            <a:off x="411480" y="9628632"/>
            <a:ext cx="1444752" cy="1078992"/>
          </a:xfrm>
          <a:prstGeom prst="roundRect">
            <a:avLst>
              <a:gd name="adj" fmla="val 76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75" name="Shape 59"/>
          <p:cNvSpPr/>
          <p:nvPr/>
        </p:nvSpPr>
        <p:spPr>
          <a:xfrm>
            <a:off x="960120" y="9756648"/>
            <a:ext cx="347472" cy="347472"/>
          </a:xfrm>
          <a:prstGeom prst="ellipse">
            <a:avLst/>
          </a:prstGeom>
          <a:solidFill>
            <a:srgbClr val="FDF1E2"/>
          </a:solidFill>
          <a:ln/>
        </p:spPr>
      </p:sp>
      <p:pic>
        <p:nvPicPr>
          <p:cNvPr id="76" name="Image 14" descr="icon_dataset.png"/>
          <p:cNvPicPr>
            <a:picLocks noChangeAspect="1"/>
          </p:cNvPicPr>
          <p:nvPr/>
        </p:nvPicPr>
        <p:blipFill>
          <a:blip r:embed="rId9"/>
          <a:stretch>
            <a:fillRect/>
          </a:stretch>
        </p:blipFill>
        <p:spPr>
          <a:xfrm>
            <a:off x="1005291" y="9801819"/>
            <a:ext cx="257129" cy="257129"/>
          </a:xfrm>
          <a:prstGeom prst="rect">
            <a:avLst/>
          </a:prstGeom>
        </p:spPr>
      </p:pic>
      <p:sp>
        <p:nvSpPr>
          <p:cNvPr id="77" name="Text 60"/>
          <p:cNvSpPr/>
          <p:nvPr/>
        </p:nvSpPr>
        <p:spPr>
          <a:xfrm>
            <a:off x="466344" y="10158984"/>
            <a:ext cx="1335024" cy="292608"/>
          </a:xfrm>
          <a:prstGeom prst="rect">
            <a:avLst/>
          </a:prstGeom>
          <a:noFill/>
          <a:ln/>
        </p:spPr>
        <p:txBody>
          <a:bodyPr wrap="square" lIns="0" tIns="0" rIns="0" bIns="0" rtlCol="0" anchor="t"/>
          <a:lstStyle/>
          <a:p>
            <a:pPr marL="0" indent="0" algn="ctr">
              <a:lnSpc>
                <a:spcPct val="100000"/>
              </a:lnSpc>
              <a:buNone/>
            </a:pPr>
            <a:r>
              <a:rPr lang="en-US" sz="900" b="1" dirty="0">
                <a:solidFill>
                  <a:srgbClr val="0F2A47"/>
                </a:solidFill>
                <a:latin typeface="Times New Roman" panose="02020603050405020304" pitchFamily="18" charset="0"/>
                <a:ea typeface="Calibri" pitchFamily="34" charset="-122"/>
                <a:cs typeface="Times New Roman" panose="02020603050405020304" pitchFamily="18" charset="0"/>
              </a:rPr>
              <a:t>KAGGLE DATA</a:t>
            </a:r>
            <a:endParaRPr lang="en-US" sz="900" dirty="0">
              <a:latin typeface="Times New Roman" panose="02020603050405020304" pitchFamily="18" charset="0"/>
              <a:cs typeface="Times New Roman" panose="02020603050405020304" pitchFamily="18" charset="0"/>
            </a:endParaRPr>
          </a:p>
        </p:txBody>
      </p:sp>
      <p:sp>
        <p:nvSpPr>
          <p:cNvPr id="78" name="Text 61"/>
          <p:cNvSpPr/>
          <p:nvPr/>
        </p:nvSpPr>
        <p:spPr>
          <a:xfrm>
            <a:off x="466344" y="10323576"/>
            <a:ext cx="1335024" cy="438912"/>
          </a:xfrm>
          <a:prstGeom prst="rect">
            <a:avLst/>
          </a:prstGeom>
          <a:noFill/>
          <a:ln/>
        </p:spPr>
        <p:txBody>
          <a:bodyPr wrap="square" lIns="0" tIns="0" rIns="0" bIns="0" rtlCol="0" anchor="t"/>
          <a:lstStyle/>
          <a:p>
            <a:pPr marL="0" indent="0" algn="ctr">
              <a:lnSpc>
                <a:spcPct val="105000"/>
              </a:lnSpc>
              <a:buNone/>
            </a:pPr>
            <a:r>
              <a:rPr lang="en-US" sz="830" dirty="0">
                <a:solidFill>
                  <a:srgbClr val="60707F"/>
                </a:solidFill>
                <a:latin typeface="Times New Roman" panose="02020603050405020304" pitchFamily="18" charset="0"/>
                <a:ea typeface="Calibri" pitchFamily="34" charset="-122"/>
                <a:cs typeface="Times New Roman" panose="02020603050405020304" pitchFamily="18" charset="0"/>
              </a:rPr>
              <a:t>Historical</a:t>
            </a:r>
            <a:endParaRPr lang="en-US" sz="830" dirty="0">
              <a:latin typeface="Times New Roman" panose="02020603050405020304" pitchFamily="18" charset="0"/>
              <a:cs typeface="Times New Roman" panose="02020603050405020304" pitchFamily="18" charset="0"/>
            </a:endParaRPr>
          </a:p>
          <a:p>
            <a:pPr marL="0" indent="0" algn="ctr">
              <a:lnSpc>
                <a:spcPct val="105000"/>
              </a:lnSpc>
              <a:buNone/>
            </a:pPr>
            <a:r>
              <a:rPr lang="en-US" sz="830" dirty="0">
                <a:solidFill>
                  <a:srgbClr val="60707F"/>
                </a:solidFill>
                <a:latin typeface="Times New Roman" panose="02020603050405020304" pitchFamily="18" charset="0"/>
                <a:ea typeface="Calibri" pitchFamily="34" charset="-122"/>
                <a:cs typeface="Times New Roman" panose="02020603050405020304" pitchFamily="18" charset="0"/>
              </a:rPr>
              <a:t>accidents</a:t>
            </a:r>
            <a:endParaRPr lang="en-US" sz="830" dirty="0">
              <a:latin typeface="Times New Roman" panose="02020603050405020304" pitchFamily="18" charset="0"/>
              <a:cs typeface="Times New Roman" panose="02020603050405020304" pitchFamily="18" charset="0"/>
            </a:endParaRPr>
          </a:p>
        </p:txBody>
      </p:sp>
      <p:sp>
        <p:nvSpPr>
          <p:cNvPr id="79" name="Text 62"/>
          <p:cNvSpPr/>
          <p:nvPr/>
        </p:nvSpPr>
        <p:spPr>
          <a:xfrm>
            <a:off x="1874520" y="10012680"/>
            <a:ext cx="187452" cy="310896"/>
          </a:xfrm>
          <a:prstGeom prst="rect">
            <a:avLst/>
          </a:prstGeom>
          <a:noFill/>
          <a:ln/>
        </p:spPr>
        <p:txBody>
          <a:bodyPr wrap="square" lIns="0" tIns="0" rIns="0" bIns="0" rtlCol="0" anchor="ctr"/>
          <a:lstStyle/>
          <a:p>
            <a:pPr marL="0" indent="0" algn="ctr">
              <a:buNone/>
            </a:pPr>
            <a:r>
              <a:rPr lang="en-US" sz="2000" b="1" dirty="0">
                <a:solidFill>
                  <a:srgbClr val="E28B26"/>
                </a:solidFill>
                <a:latin typeface="Calibri" pitchFamily="34" charset="0"/>
                <a:ea typeface="Calibri" pitchFamily="34" charset="-122"/>
                <a:cs typeface="Calibri" pitchFamily="34" charset="-120"/>
              </a:rPr>
              <a:t>›</a:t>
            </a:r>
            <a:endParaRPr lang="en-US" sz="2000" dirty="0"/>
          </a:p>
        </p:txBody>
      </p:sp>
      <p:sp>
        <p:nvSpPr>
          <p:cNvPr id="80" name="Shape 63"/>
          <p:cNvSpPr/>
          <p:nvPr/>
        </p:nvSpPr>
        <p:spPr>
          <a:xfrm>
            <a:off x="2080260" y="9628632"/>
            <a:ext cx="1444752" cy="1078992"/>
          </a:xfrm>
          <a:prstGeom prst="roundRect">
            <a:avLst>
              <a:gd name="adj" fmla="val 76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81" name="Shape 64"/>
          <p:cNvSpPr/>
          <p:nvPr/>
        </p:nvSpPr>
        <p:spPr>
          <a:xfrm>
            <a:off x="2628900" y="9756648"/>
            <a:ext cx="347472" cy="347472"/>
          </a:xfrm>
          <a:prstGeom prst="ellipse">
            <a:avLst/>
          </a:prstGeom>
          <a:solidFill>
            <a:srgbClr val="FDF1E2"/>
          </a:solidFill>
          <a:ln/>
        </p:spPr>
      </p:sp>
      <p:pic>
        <p:nvPicPr>
          <p:cNvPr id="82" name="Image 15" descr="icon_region.png"/>
          <p:cNvPicPr>
            <a:picLocks noChangeAspect="1"/>
          </p:cNvPicPr>
          <p:nvPr/>
        </p:nvPicPr>
        <p:blipFill>
          <a:blip r:embed="rId10"/>
          <a:stretch>
            <a:fillRect/>
          </a:stretch>
        </p:blipFill>
        <p:spPr>
          <a:xfrm>
            <a:off x="2674071" y="9801819"/>
            <a:ext cx="257129" cy="257129"/>
          </a:xfrm>
          <a:prstGeom prst="rect">
            <a:avLst/>
          </a:prstGeom>
        </p:spPr>
      </p:pic>
      <p:sp>
        <p:nvSpPr>
          <p:cNvPr id="83" name="Text 65"/>
          <p:cNvSpPr/>
          <p:nvPr/>
        </p:nvSpPr>
        <p:spPr>
          <a:xfrm>
            <a:off x="2135124" y="10158984"/>
            <a:ext cx="1335024" cy="292608"/>
          </a:xfrm>
          <a:prstGeom prst="rect">
            <a:avLst/>
          </a:prstGeom>
          <a:noFill/>
          <a:ln/>
        </p:spPr>
        <p:txBody>
          <a:bodyPr wrap="square" lIns="0" tIns="0" rIns="0" bIns="0" rtlCol="0" anchor="t"/>
          <a:lstStyle/>
          <a:p>
            <a:pPr marL="0" indent="0" algn="ctr">
              <a:lnSpc>
                <a:spcPct val="100000"/>
              </a:lnSpc>
              <a:buNone/>
            </a:pPr>
            <a:r>
              <a:rPr lang="en-US" sz="900" b="1" dirty="0">
                <a:solidFill>
                  <a:srgbClr val="0F2A47"/>
                </a:solidFill>
                <a:latin typeface="Times New Roman" panose="02020603050405020304" pitchFamily="18" charset="0"/>
                <a:ea typeface="Calibri" pitchFamily="34" charset="-122"/>
                <a:cs typeface="Times New Roman" panose="02020603050405020304" pitchFamily="18" charset="0"/>
              </a:rPr>
              <a:t>SELECT REGION</a:t>
            </a:r>
            <a:endParaRPr lang="en-US" sz="900" dirty="0">
              <a:latin typeface="Times New Roman" panose="02020603050405020304" pitchFamily="18" charset="0"/>
              <a:cs typeface="Times New Roman" panose="02020603050405020304" pitchFamily="18" charset="0"/>
            </a:endParaRPr>
          </a:p>
        </p:txBody>
      </p:sp>
      <p:sp>
        <p:nvSpPr>
          <p:cNvPr id="84" name="Text 66"/>
          <p:cNvSpPr/>
          <p:nvPr/>
        </p:nvSpPr>
        <p:spPr>
          <a:xfrm>
            <a:off x="2135124" y="10323576"/>
            <a:ext cx="1335024" cy="438912"/>
          </a:xfrm>
          <a:prstGeom prst="rect">
            <a:avLst/>
          </a:prstGeom>
          <a:noFill/>
          <a:ln/>
        </p:spPr>
        <p:txBody>
          <a:bodyPr wrap="square" lIns="0" tIns="0" rIns="0" bIns="0" rtlCol="0" anchor="t"/>
          <a:lstStyle/>
          <a:p>
            <a:pPr marL="0" indent="0" algn="ctr">
              <a:lnSpc>
                <a:spcPct val="105000"/>
              </a:lnSpc>
              <a:buNone/>
            </a:pPr>
            <a:r>
              <a:rPr lang="en-US" sz="830" dirty="0">
                <a:solidFill>
                  <a:srgbClr val="60707F"/>
                </a:solidFill>
                <a:latin typeface="Times New Roman" panose="02020603050405020304" pitchFamily="18" charset="0"/>
                <a:ea typeface="Calibri" pitchFamily="34" charset="-122"/>
                <a:cs typeface="Times New Roman" panose="02020603050405020304" pitchFamily="18" charset="0"/>
              </a:rPr>
              <a:t>Pan-India</a:t>
            </a:r>
            <a:endParaRPr lang="en-US" sz="830" dirty="0">
              <a:latin typeface="Times New Roman" panose="02020603050405020304" pitchFamily="18" charset="0"/>
              <a:cs typeface="Times New Roman" panose="02020603050405020304" pitchFamily="18" charset="0"/>
            </a:endParaRPr>
          </a:p>
        </p:txBody>
      </p:sp>
      <p:sp>
        <p:nvSpPr>
          <p:cNvPr id="85" name="Text 67"/>
          <p:cNvSpPr/>
          <p:nvPr/>
        </p:nvSpPr>
        <p:spPr>
          <a:xfrm>
            <a:off x="3543300" y="10012680"/>
            <a:ext cx="187452" cy="310896"/>
          </a:xfrm>
          <a:prstGeom prst="rect">
            <a:avLst/>
          </a:prstGeom>
          <a:noFill/>
          <a:ln/>
        </p:spPr>
        <p:txBody>
          <a:bodyPr wrap="square" lIns="0" tIns="0" rIns="0" bIns="0" rtlCol="0" anchor="ctr"/>
          <a:lstStyle/>
          <a:p>
            <a:pPr marL="0" indent="0" algn="ctr">
              <a:buNone/>
            </a:pPr>
            <a:r>
              <a:rPr lang="en-US" sz="2000" b="1" dirty="0">
                <a:solidFill>
                  <a:srgbClr val="E28B26"/>
                </a:solidFill>
                <a:latin typeface="Calibri" pitchFamily="34" charset="0"/>
                <a:ea typeface="Calibri" pitchFamily="34" charset="-122"/>
                <a:cs typeface="Calibri" pitchFamily="34" charset="-120"/>
              </a:rPr>
              <a:t>›</a:t>
            </a:r>
            <a:endParaRPr lang="en-US" sz="2000" dirty="0"/>
          </a:p>
        </p:txBody>
      </p:sp>
      <p:sp>
        <p:nvSpPr>
          <p:cNvPr id="86" name="Shape 68"/>
          <p:cNvSpPr/>
          <p:nvPr/>
        </p:nvSpPr>
        <p:spPr>
          <a:xfrm>
            <a:off x="3749040" y="9628632"/>
            <a:ext cx="1444752" cy="1078992"/>
          </a:xfrm>
          <a:prstGeom prst="roundRect">
            <a:avLst>
              <a:gd name="adj" fmla="val 76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87" name="Shape 69"/>
          <p:cNvSpPr/>
          <p:nvPr/>
        </p:nvSpPr>
        <p:spPr>
          <a:xfrm>
            <a:off x="4297680" y="9756648"/>
            <a:ext cx="347472" cy="347472"/>
          </a:xfrm>
          <a:prstGeom prst="ellipse">
            <a:avLst/>
          </a:prstGeom>
          <a:solidFill>
            <a:srgbClr val="FDF1E2"/>
          </a:solidFill>
          <a:ln/>
        </p:spPr>
      </p:sp>
      <p:pic>
        <p:nvPicPr>
          <p:cNvPr id="88" name="Image 16" descr="icon_preprocess.png"/>
          <p:cNvPicPr>
            <a:picLocks noChangeAspect="1"/>
          </p:cNvPicPr>
          <p:nvPr/>
        </p:nvPicPr>
        <p:blipFill>
          <a:blip r:embed="rId14"/>
          <a:stretch>
            <a:fillRect/>
          </a:stretch>
        </p:blipFill>
        <p:spPr>
          <a:xfrm>
            <a:off x="4342851" y="9801819"/>
            <a:ext cx="257129" cy="257129"/>
          </a:xfrm>
          <a:prstGeom prst="rect">
            <a:avLst/>
          </a:prstGeom>
        </p:spPr>
      </p:pic>
      <p:sp>
        <p:nvSpPr>
          <p:cNvPr id="89" name="Text 70"/>
          <p:cNvSpPr/>
          <p:nvPr/>
        </p:nvSpPr>
        <p:spPr>
          <a:xfrm>
            <a:off x="3803904" y="10158984"/>
            <a:ext cx="1335024" cy="292608"/>
          </a:xfrm>
          <a:prstGeom prst="rect">
            <a:avLst/>
          </a:prstGeom>
          <a:noFill/>
          <a:ln/>
        </p:spPr>
        <p:txBody>
          <a:bodyPr wrap="square" lIns="0" tIns="0" rIns="0" bIns="0" rtlCol="0" anchor="t"/>
          <a:lstStyle/>
          <a:p>
            <a:pPr marL="0" indent="0" algn="ctr">
              <a:lnSpc>
                <a:spcPct val="100000"/>
              </a:lnSpc>
              <a:buNone/>
            </a:pPr>
            <a:r>
              <a:rPr lang="en-US" sz="900" b="1" dirty="0">
                <a:solidFill>
                  <a:srgbClr val="0F2A47"/>
                </a:solidFill>
                <a:latin typeface="Times New Roman" panose="02020603050405020304" pitchFamily="18" charset="0"/>
                <a:ea typeface="Calibri" pitchFamily="34" charset="-122"/>
                <a:cs typeface="Times New Roman" panose="02020603050405020304" pitchFamily="18" charset="0"/>
              </a:rPr>
              <a:t>PREPROCESS</a:t>
            </a:r>
            <a:endParaRPr lang="en-US" sz="900" dirty="0">
              <a:latin typeface="Times New Roman" panose="02020603050405020304" pitchFamily="18" charset="0"/>
              <a:cs typeface="Times New Roman" panose="02020603050405020304" pitchFamily="18" charset="0"/>
            </a:endParaRPr>
          </a:p>
        </p:txBody>
      </p:sp>
      <p:sp>
        <p:nvSpPr>
          <p:cNvPr id="90" name="Text 71"/>
          <p:cNvSpPr/>
          <p:nvPr/>
        </p:nvSpPr>
        <p:spPr>
          <a:xfrm>
            <a:off x="3803904" y="10323576"/>
            <a:ext cx="1335024" cy="438912"/>
          </a:xfrm>
          <a:prstGeom prst="rect">
            <a:avLst/>
          </a:prstGeom>
          <a:noFill/>
          <a:ln/>
        </p:spPr>
        <p:txBody>
          <a:bodyPr wrap="square" lIns="0" tIns="0" rIns="0" bIns="0" rtlCol="0" anchor="t"/>
          <a:lstStyle/>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Remove missing</a:t>
            </a:r>
            <a:endParaRPr lang="en-US" sz="900" dirty="0">
              <a:latin typeface="Times New Roman" panose="02020603050405020304" pitchFamily="18" charset="0"/>
              <a:cs typeface="Times New Roman" panose="02020603050405020304" pitchFamily="18" charset="0"/>
            </a:endParaRPr>
          </a:p>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&amp; duplicates</a:t>
            </a:r>
            <a:endParaRPr lang="en-US" sz="900" dirty="0">
              <a:latin typeface="Times New Roman" panose="02020603050405020304" pitchFamily="18" charset="0"/>
              <a:cs typeface="Times New Roman" panose="02020603050405020304" pitchFamily="18" charset="0"/>
            </a:endParaRPr>
          </a:p>
        </p:txBody>
      </p:sp>
      <p:sp>
        <p:nvSpPr>
          <p:cNvPr id="91" name="Text 72"/>
          <p:cNvSpPr/>
          <p:nvPr/>
        </p:nvSpPr>
        <p:spPr>
          <a:xfrm>
            <a:off x="5212080" y="10012680"/>
            <a:ext cx="187452" cy="310896"/>
          </a:xfrm>
          <a:prstGeom prst="rect">
            <a:avLst/>
          </a:prstGeom>
          <a:noFill/>
          <a:ln/>
        </p:spPr>
        <p:txBody>
          <a:bodyPr wrap="square" lIns="0" tIns="0" rIns="0" bIns="0" rtlCol="0" anchor="ctr"/>
          <a:lstStyle/>
          <a:p>
            <a:pPr marL="0" indent="0" algn="ctr">
              <a:buNone/>
            </a:pPr>
            <a:r>
              <a:rPr lang="en-US" sz="2000" b="1" dirty="0">
                <a:solidFill>
                  <a:srgbClr val="E28B26"/>
                </a:solidFill>
                <a:latin typeface="Calibri" pitchFamily="34" charset="0"/>
                <a:ea typeface="Calibri" pitchFamily="34" charset="-122"/>
                <a:cs typeface="Calibri" pitchFamily="34" charset="-120"/>
              </a:rPr>
              <a:t>›</a:t>
            </a:r>
            <a:endParaRPr lang="en-US" sz="2000" dirty="0"/>
          </a:p>
        </p:txBody>
      </p:sp>
      <p:sp>
        <p:nvSpPr>
          <p:cNvPr id="92" name="Shape 73"/>
          <p:cNvSpPr/>
          <p:nvPr/>
        </p:nvSpPr>
        <p:spPr>
          <a:xfrm>
            <a:off x="5417820" y="9628632"/>
            <a:ext cx="1444752" cy="1078992"/>
          </a:xfrm>
          <a:prstGeom prst="roundRect">
            <a:avLst>
              <a:gd name="adj" fmla="val 76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93" name="Shape 74"/>
          <p:cNvSpPr/>
          <p:nvPr/>
        </p:nvSpPr>
        <p:spPr>
          <a:xfrm>
            <a:off x="5966460" y="9756648"/>
            <a:ext cx="347472" cy="347472"/>
          </a:xfrm>
          <a:prstGeom prst="ellipse">
            <a:avLst/>
          </a:prstGeom>
          <a:solidFill>
            <a:srgbClr val="FDF1E2"/>
          </a:solidFill>
          <a:ln/>
        </p:spPr>
      </p:sp>
      <p:pic>
        <p:nvPicPr>
          <p:cNvPr id="94" name="Image 17" descr="icon_statistics.png"/>
          <p:cNvPicPr>
            <a:picLocks noChangeAspect="1"/>
          </p:cNvPicPr>
          <p:nvPr/>
        </p:nvPicPr>
        <p:blipFill>
          <a:blip r:embed="rId15"/>
          <a:stretch>
            <a:fillRect/>
          </a:stretch>
        </p:blipFill>
        <p:spPr>
          <a:xfrm>
            <a:off x="6011631" y="9801819"/>
            <a:ext cx="257129" cy="257129"/>
          </a:xfrm>
          <a:prstGeom prst="rect">
            <a:avLst/>
          </a:prstGeom>
        </p:spPr>
      </p:pic>
      <p:sp>
        <p:nvSpPr>
          <p:cNvPr id="95" name="Text 75"/>
          <p:cNvSpPr/>
          <p:nvPr/>
        </p:nvSpPr>
        <p:spPr>
          <a:xfrm>
            <a:off x="5472684" y="10158984"/>
            <a:ext cx="1335024" cy="292608"/>
          </a:xfrm>
          <a:prstGeom prst="rect">
            <a:avLst/>
          </a:prstGeom>
          <a:noFill/>
          <a:ln/>
        </p:spPr>
        <p:txBody>
          <a:bodyPr wrap="square" lIns="0" tIns="0" rIns="0" bIns="0" rtlCol="0" anchor="t"/>
          <a:lstStyle/>
          <a:p>
            <a:pPr marL="0" indent="0" algn="ctr">
              <a:lnSpc>
                <a:spcPct val="100000"/>
              </a:lnSpc>
              <a:buNone/>
            </a:pPr>
            <a:r>
              <a:rPr lang="en-US" sz="900" b="1" dirty="0">
                <a:solidFill>
                  <a:srgbClr val="0F2A47"/>
                </a:solidFill>
                <a:latin typeface="Times New Roman" panose="02020603050405020304" pitchFamily="18" charset="0"/>
                <a:ea typeface="Calibri" pitchFamily="34" charset="-122"/>
                <a:cs typeface="Times New Roman" panose="02020603050405020304" pitchFamily="18" charset="0"/>
              </a:rPr>
              <a:t>STATISTICS</a:t>
            </a:r>
            <a:endParaRPr lang="en-US" sz="900" dirty="0">
              <a:latin typeface="Times New Roman" panose="02020603050405020304" pitchFamily="18" charset="0"/>
              <a:cs typeface="Times New Roman" panose="02020603050405020304" pitchFamily="18" charset="0"/>
            </a:endParaRPr>
          </a:p>
        </p:txBody>
      </p:sp>
      <p:sp>
        <p:nvSpPr>
          <p:cNvPr id="96" name="Text 76"/>
          <p:cNvSpPr/>
          <p:nvPr/>
        </p:nvSpPr>
        <p:spPr>
          <a:xfrm>
            <a:off x="5472684" y="10323576"/>
            <a:ext cx="1335024" cy="438912"/>
          </a:xfrm>
          <a:prstGeom prst="rect">
            <a:avLst/>
          </a:prstGeom>
          <a:noFill/>
          <a:ln/>
        </p:spPr>
        <p:txBody>
          <a:bodyPr wrap="square" lIns="0" tIns="0" rIns="0" bIns="0" rtlCol="0" anchor="t"/>
          <a:lstStyle/>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Frequency,</a:t>
            </a:r>
            <a:endParaRPr lang="en-US" sz="900" dirty="0">
              <a:latin typeface="Times New Roman" panose="02020603050405020304" pitchFamily="18" charset="0"/>
              <a:cs typeface="Times New Roman" panose="02020603050405020304" pitchFamily="18" charset="0"/>
            </a:endParaRPr>
          </a:p>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severity rates</a:t>
            </a:r>
            <a:endParaRPr lang="en-US" sz="900" dirty="0">
              <a:latin typeface="Times New Roman" panose="02020603050405020304" pitchFamily="18" charset="0"/>
              <a:cs typeface="Times New Roman" panose="02020603050405020304" pitchFamily="18" charset="0"/>
            </a:endParaRPr>
          </a:p>
        </p:txBody>
      </p:sp>
      <p:sp>
        <p:nvSpPr>
          <p:cNvPr id="97" name="Text 77"/>
          <p:cNvSpPr/>
          <p:nvPr/>
        </p:nvSpPr>
        <p:spPr>
          <a:xfrm>
            <a:off x="6880860" y="10012680"/>
            <a:ext cx="187452" cy="310896"/>
          </a:xfrm>
          <a:prstGeom prst="rect">
            <a:avLst/>
          </a:prstGeom>
          <a:noFill/>
          <a:ln/>
        </p:spPr>
        <p:txBody>
          <a:bodyPr wrap="square" lIns="0" tIns="0" rIns="0" bIns="0" rtlCol="0" anchor="ctr"/>
          <a:lstStyle/>
          <a:p>
            <a:pPr marL="0" indent="0" algn="ctr">
              <a:buNone/>
            </a:pPr>
            <a:r>
              <a:rPr lang="en-US" sz="2000" b="1" dirty="0">
                <a:solidFill>
                  <a:srgbClr val="E28B26"/>
                </a:solidFill>
                <a:latin typeface="Calibri" pitchFamily="34" charset="0"/>
                <a:ea typeface="Calibri" pitchFamily="34" charset="-122"/>
                <a:cs typeface="Calibri" pitchFamily="34" charset="-120"/>
              </a:rPr>
              <a:t>›</a:t>
            </a:r>
            <a:endParaRPr lang="en-US" sz="2000" dirty="0"/>
          </a:p>
        </p:txBody>
      </p:sp>
      <p:sp>
        <p:nvSpPr>
          <p:cNvPr id="98" name="Shape 78"/>
          <p:cNvSpPr/>
          <p:nvPr/>
        </p:nvSpPr>
        <p:spPr>
          <a:xfrm>
            <a:off x="7086600" y="9628632"/>
            <a:ext cx="1444752" cy="1078992"/>
          </a:xfrm>
          <a:prstGeom prst="roundRect">
            <a:avLst>
              <a:gd name="adj" fmla="val 76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99" name="Shape 79"/>
          <p:cNvSpPr/>
          <p:nvPr/>
        </p:nvSpPr>
        <p:spPr>
          <a:xfrm>
            <a:off x="7635240" y="9756648"/>
            <a:ext cx="347472" cy="347472"/>
          </a:xfrm>
          <a:prstGeom prst="ellipse">
            <a:avLst/>
          </a:prstGeom>
          <a:solidFill>
            <a:srgbClr val="FDF1E2"/>
          </a:solidFill>
          <a:ln/>
        </p:spPr>
      </p:sp>
      <p:pic>
        <p:nvPicPr>
          <p:cNvPr id="100" name="Image 18" descr="icon_riskfactors.png"/>
          <p:cNvPicPr>
            <a:picLocks noChangeAspect="1"/>
          </p:cNvPicPr>
          <p:nvPr/>
        </p:nvPicPr>
        <p:blipFill>
          <a:blip r:embed="rId13"/>
          <a:stretch>
            <a:fillRect/>
          </a:stretch>
        </p:blipFill>
        <p:spPr>
          <a:xfrm>
            <a:off x="7680411" y="9801819"/>
            <a:ext cx="257129" cy="257129"/>
          </a:xfrm>
          <a:prstGeom prst="rect">
            <a:avLst/>
          </a:prstGeom>
        </p:spPr>
      </p:pic>
      <p:sp>
        <p:nvSpPr>
          <p:cNvPr id="101" name="Text 80"/>
          <p:cNvSpPr/>
          <p:nvPr/>
        </p:nvSpPr>
        <p:spPr>
          <a:xfrm>
            <a:off x="7141464" y="10158984"/>
            <a:ext cx="1335024" cy="292608"/>
          </a:xfrm>
          <a:prstGeom prst="rect">
            <a:avLst/>
          </a:prstGeom>
          <a:noFill/>
          <a:ln/>
        </p:spPr>
        <p:txBody>
          <a:bodyPr wrap="square" lIns="0" tIns="0" rIns="0" bIns="0" rtlCol="0" anchor="t"/>
          <a:lstStyle/>
          <a:p>
            <a:pPr marL="0" indent="0" algn="ctr">
              <a:lnSpc>
                <a:spcPct val="100000"/>
              </a:lnSpc>
              <a:buNone/>
            </a:pPr>
            <a:r>
              <a:rPr lang="en-US" sz="900" b="1" dirty="0">
                <a:solidFill>
                  <a:srgbClr val="0F2A47"/>
                </a:solidFill>
                <a:latin typeface="Times New Roman" panose="02020603050405020304" pitchFamily="18" charset="0"/>
                <a:ea typeface="Calibri" pitchFamily="34" charset="-122"/>
                <a:cs typeface="Times New Roman" panose="02020603050405020304" pitchFamily="18" charset="0"/>
              </a:rPr>
              <a:t>RISK FACTORS</a:t>
            </a:r>
            <a:endParaRPr lang="en-US" sz="900" dirty="0">
              <a:latin typeface="Times New Roman" panose="02020603050405020304" pitchFamily="18" charset="0"/>
              <a:cs typeface="Times New Roman" panose="02020603050405020304" pitchFamily="18" charset="0"/>
            </a:endParaRPr>
          </a:p>
        </p:txBody>
      </p:sp>
      <p:sp>
        <p:nvSpPr>
          <p:cNvPr id="102" name="Text 81"/>
          <p:cNvSpPr/>
          <p:nvPr/>
        </p:nvSpPr>
        <p:spPr>
          <a:xfrm>
            <a:off x="7141464" y="10323576"/>
            <a:ext cx="1335024" cy="438912"/>
          </a:xfrm>
          <a:prstGeom prst="rect">
            <a:avLst/>
          </a:prstGeom>
          <a:noFill/>
          <a:ln/>
        </p:spPr>
        <p:txBody>
          <a:bodyPr wrap="square" lIns="0" tIns="0" rIns="0" bIns="0" rtlCol="0" anchor="t"/>
          <a:lstStyle/>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Time • weather</a:t>
            </a:r>
            <a:endParaRPr lang="en-US" sz="900" dirty="0">
              <a:latin typeface="Times New Roman" panose="02020603050405020304" pitchFamily="18" charset="0"/>
              <a:cs typeface="Times New Roman" panose="02020603050405020304" pitchFamily="18" charset="0"/>
            </a:endParaRPr>
          </a:p>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road type</a:t>
            </a:r>
            <a:endParaRPr lang="en-US" sz="900" dirty="0">
              <a:latin typeface="Times New Roman" panose="02020603050405020304" pitchFamily="18" charset="0"/>
              <a:cs typeface="Times New Roman" panose="02020603050405020304" pitchFamily="18" charset="0"/>
            </a:endParaRPr>
          </a:p>
        </p:txBody>
      </p:sp>
      <p:sp>
        <p:nvSpPr>
          <p:cNvPr id="103" name="Text 82"/>
          <p:cNvSpPr/>
          <p:nvPr/>
        </p:nvSpPr>
        <p:spPr>
          <a:xfrm>
            <a:off x="8549640" y="10012680"/>
            <a:ext cx="187452" cy="310896"/>
          </a:xfrm>
          <a:prstGeom prst="rect">
            <a:avLst/>
          </a:prstGeom>
          <a:noFill/>
          <a:ln/>
        </p:spPr>
        <p:txBody>
          <a:bodyPr wrap="square" lIns="0" tIns="0" rIns="0" bIns="0" rtlCol="0" anchor="ctr"/>
          <a:lstStyle/>
          <a:p>
            <a:pPr marL="0" indent="0" algn="ctr">
              <a:buNone/>
            </a:pPr>
            <a:r>
              <a:rPr lang="en-US" sz="2000" b="1" dirty="0">
                <a:solidFill>
                  <a:srgbClr val="E28B26"/>
                </a:solidFill>
                <a:latin typeface="Calibri" pitchFamily="34" charset="0"/>
                <a:ea typeface="Calibri" pitchFamily="34" charset="-122"/>
                <a:cs typeface="Calibri" pitchFamily="34" charset="-120"/>
              </a:rPr>
              <a:t>›</a:t>
            </a:r>
            <a:endParaRPr lang="en-US" sz="2000" dirty="0"/>
          </a:p>
        </p:txBody>
      </p:sp>
      <p:sp>
        <p:nvSpPr>
          <p:cNvPr id="104" name="Shape 83"/>
          <p:cNvSpPr/>
          <p:nvPr/>
        </p:nvSpPr>
        <p:spPr>
          <a:xfrm>
            <a:off x="8755380" y="9628632"/>
            <a:ext cx="1444752" cy="1078992"/>
          </a:xfrm>
          <a:prstGeom prst="roundRect">
            <a:avLst>
              <a:gd name="adj" fmla="val 76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105" name="Shape 84"/>
          <p:cNvSpPr/>
          <p:nvPr/>
        </p:nvSpPr>
        <p:spPr>
          <a:xfrm>
            <a:off x="9304020" y="9756648"/>
            <a:ext cx="347472" cy="347472"/>
          </a:xfrm>
          <a:prstGeom prst="ellipse">
            <a:avLst/>
          </a:prstGeom>
          <a:solidFill>
            <a:srgbClr val="FDF1E2"/>
          </a:solidFill>
          <a:ln/>
        </p:spPr>
      </p:sp>
      <p:pic>
        <p:nvPicPr>
          <p:cNvPr id="106" name="Image 19" descr="icon_compare.png"/>
          <p:cNvPicPr>
            <a:picLocks noChangeAspect="1"/>
          </p:cNvPicPr>
          <p:nvPr/>
        </p:nvPicPr>
        <p:blipFill>
          <a:blip r:embed="rId16"/>
          <a:stretch>
            <a:fillRect/>
          </a:stretch>
        </p:blipFill>
        <p:spPr>
          <a:xfrm>
            <a:off x="9349191" y="9801819"/>
            <a:ext cx="257129" cy="257129"/>
          </a:xfrm>
          <a:prstGeom prst="rect">
            <a:avLst/>
          </a:prstGeom>
        </p:spPr>
      </p:pic>
      <p:sp>
        <p:nvSpPr>
          <p:cNvPr id="107" name="Text 85"/>
          <p:cNvSpPr/>
          <p:nvPr/>
        </p:nvSpPr>
        <p:spPr>
          <a:xfrm>
            <a:off x="8810244" y="10158984"/>
            <a:ext cx="1335024" cy="292608"/>
          </a:xfrm>
          <a:prstGeom prst="rect">
            <a:avLst/>
          </a:prstGeom>
          <a:noFill/>
          <a:ln/>
        </p:spPr>
        <p:txBody>
          <a:bodyPr wrap="square" lIns="0" tIns="0" rIns="0" bIns="0" rtlCol="0" anchor="t"/>
          <a:lstStyle/>
          <a:p>
            <a:pPr marL="0" indent="0" algn="ctr">
              <a:lnSpc>
                <a:spcPct val="100000"/>
              </a:lnSpc>
              <a:buNone/>
            </a:pPr>
            <a:r>
              <a:rPr lang="en-US" sz="900" b="1" dirty="0">
                <a:solidFill>
                  <a:srgbClr val="0F2A47"/>
                </a:solidFill>
                <a:latin typeface="Times New Roman" panose="02020603050405020304" pitchFamily="18" charset="0"/>
                <a:ea typeface="Calibri" pitchFamily="34" charset="-122"/>
                <a:cs typeface="Times New Roman" panose="02020603050405020304" pitchFamily="18" charset="0"/>
              </a:rPr>
              <a:t>COMPARE</a:t>
            </a:r>
            <a:endParaRPr lang="en-US" sz="900" dirty="0">
              <a:latin typeface="Times New Roman" panose="02020603050405020304" pitchFamily="18" charset="0"/>
              <a:cs typeface="Times New Roman" panose="02020603050405020304" pitchFamily="18" charset="0"/>
            </a:endParaRPr>
          </a:p>
        </p:txBody>
      </p:sp>
      <p:sp>
        <p:nvSpPr>
          <p:cNvPr id="108" name="Text 86"/>
          <p:cNvSpPr/>
          <p:nvPr/>
        </p:nvSpPr>
        <p:spPr>
          <a:xfrm>
            <a:off x="8810244" y="10323576"/>
            <a:ext cx="1335024" cy="438912"/>
          </a:xfrm>
          <a:prstGeom prst="rect">
            <a:avLst/>
          </a:prstGeom>
          <a:noFill/>
          <a:ln/>
        </p:spPr>
        <p:txBody>
          <a:bodyPr wrap="square" lIns="0" tIns="0" rIns="0" bIns="0" rtlCol="0" anchor="t"/>
          <a:lstStyle/>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Charts</a:t>
            </a:r>
            <a:endParaRPr lang="en-US" sz="900" dirty="0">
              <a:latin typeface="Times New Roman" panose="02020603050405020304" pitchFamily="18" charset="0"/>
              <a:cs typeface="Times New Roman" panose="02020603050405020304" pitchFamily="18" charset="0"/>
            </a:endParaRPr>
          </a:p>
          <a:p>
            <a:pPr marL="0" indent="0" algn="ctr">
              <a:lnSpc>
                <a:spcPct val="105000"/>
              </a:lnSpc>
              <a:buNone/>
            </a:pPr>
            <a:r>
              <a:rPr lang="en-US" sz="900" dirty="0">
                <a:solidFill>
                  <a:srgbClr val="60707F"/>
                </a:solidFill>
                <a:latin typeface="Times New Roman" panose="02020603050405020304" pitchFamily="18" charset="0"/>
                <a:ea typeface="Calibri" pitchFamily="34" charset="-122"/>
                <a:cs typeface="Times New Roman" panose="02020603050405020304" pitchFamily="18" charset="0"/>
              </a:rPr>
              <a:t>&amp; insights</a:t>
            </a:r>
            <a:endParaRPr lang="en-US" sz="900" dirty="0">
              <a:latin typeface="Times New Roman" panose="02020603050405020304" pitchFamily="18" charset="0"/>
              <a:cs typeface="Times New Roman" panose="02020603050405020304" pitchFamily="18" charset="0"/>
            </a:endParaRPr>
          </a:p>
        </p:txBody>
      </p:sp>
      <p:sp>
        <p:nvSpPr>
          <p:cNvPr id="109" name="Text 87"/>
          <p:cNvSpPr/>
          <p:nvPr/>
        </p:nvSpPr>
        <p:spPr>
          <a:xfrm>
            <a:off x="530352" y="10927080"/>
            <a:ext cx="9555480" cy="566928"/>
          </a:xfrm>
          <a:prstGeom prst="rect">
            <a:avLst/>
          </a:prstGeom>
          <a:noFill/>
          <a:ln/>
        </p:spPr>
        <p:txBody>
          <a:bodyPr wrap="square" lIns="0" tIns="0" rIns="0" bIns="0" rtlCol="0" anchor="t"/>
          <a:lstStyle/>
          <a:p>
            <a:pPr marL="0" indent="0" algn="l">
              <a:lnSpc>
                <a:spcPct val="116000"/>
              </a:lnSpc>
              <a:buNone/>
            </a:pPr>
            <a:r>
              <a:rPr lang="en-US" sz="1100" b="1" i="1" dirty="0">
                <a:solidFill>
                  <a:srgbClr val="60707F"/>
                </a:solidFill>
                <a:latin typeface="Times New Roman" panose="02020603050405020304" pitchFamily="18" charset="0"/>
                <a:ea typeface="Calibri" pitchFamily="34" charset="-122"/>
                <a:cs typeface="Times New Roman" panose="02020603050405020304" pitchFamily="18" charset="0"/>
              </a:rPr>
              <a:t>Raw records were first cleaned to remove duplicates and incomplete entries, then aggregated by hour, weather condition, road type and junction category. Descriptive statistics and cross-tabulations were used to surface the variables most strongly associated with accident frequency and severity, which were then visualised for comparison</a:t>
            </a:r>
            <a:r>
              <a:rPr lang="en-US" sz="1030" b="1" i="1" dirty="0">
                <a:solidFill>
                  <a:srgbClr val="60707F"/>
                </a:solidFill>
                <a:latin typeface="Calibri" pitchFamily="34" charset="0"/>
                <a:ea typeface="Calibri" pitchFamily="34" charset="-122"/>
                <a:cs typeface="Calibri" pitchFamily="34" charset="-120"/>
              </a:rPr>
              <a:t>.</a:t>
            </a:r>
            <a:endParaRPr lang="en-US" sz="1030" b="1" dirty="0"/>
          </a:p>
        </p:txBody>
      </p:sp>
      <p:sp>
        <p:nvSpPr>
          <p:cNvPr id="110" name="Shape 88"/>
          <p:cNvSpPr/>
          <p:nvPr/>
        </p:nvSpPr>
        <p:spPr>
          <a:xfrm>
            <a:off x="320040" y="11768328"/>
            <a:ext cx="10049256" cy="475488"/>
          </a:xfrm>
          <a:prstGeom prst="roundRect">
            <a:avLst>
              <a:gd name="adj" fmla="val 13462"/>
            </a:avLst>
          </a:prstGeom>
          <a:solidFill>
            <a:schemeClr val="accent5">
              <a:lumMod val="50000"/>
            </a:schemeClr>
          </a:solidFill>
          <a:ln/>
          <a:effectLst>
            <a:outerShdw blurRad="101600" dist="38100" dir="5400000" algn="bl" rotWithShape="0">
              <a:srgbClr val="0A1F35">
                <a:alpha val="18000"/>
              </a:srgbClr>
            </a:outerShdw>
          </a:effectLst>
        </p:spPr>
      </p:sp>
      <p:sp>
        <p:nvSpPr>
          <p:cNvPr id="111" name="Shape 89"/>
          <p:cNvSpPr/>
          <p:nvPr/>
        </p:nvSpPr>
        <p:spPr>
          <a:xfrm>
            <a:off x="457200" y="11850624"/>
            <a:ext cx="310896" cy="310896"/>
          </a:xfrm>
          <a:prstGeom prst="ellipse">
            <a:avLst/>
          </a:prstGeom>
          <a:solidFill>
            <a:srgbClr val="E28B26"/>
          </a:solidFill>
          <a:ln/>
        </p:spPr>
      </p:sp>
      <p:sp>
        <p:nvSpPr>
          <p:cNvPr id="112" name="Text 90"/>
          <p:cNvSpPr/>
          <p:nvPr/>
        </p:nvSpPr>
        <p:spPr>
          <a:xfrm>
            <a:off x="457200" y="11850624"/>
            <a:ext cx="310896" cy="310896"/>
          </a:xfrm>
          <a:prstGeom prst="rect">
            <a:avLst/>
          </a:prstGeom>
          <a:noFill/>
          <a:ln/>
        </p:spPr>
        <p:txBody>
          <a:bodyPr wrap="square" lIns="0" tIns="0" rIns="0" bIns="0" rtlCol="0" anchor="ctr"/>
          <a:lstStyle/>
          <a:p>
            <a:pPr marL="0" indent="0" algn="ctr">
              <a:buNone/>
            </a:pPr>
            <a:r>
              <a:rPr lang="en-US" sz="1400" b="1" dirty="0">
                <a:solidFill>
                  <a:srgbClr val="0F2A47"/>
                </a:solidFill>
                <a:latin typeface="Calibri" pitchFamily="34" charset="0"/>
                <a:ea typeface="Calibri" pitchFamily="34" charset="-122"/>
                <a:cs typeface="Calibri" pitchFamily="34" charset="-120"/>
              </a:rPr>
              <a:t>4</a:t>
            </a:r>
            <a:endParaRPr lang="en-US" sz="1400" dirty="0"/>
          </a:p>
        </p:txBody>
      </p:sp>
      <p:pic>
        <p:nvPicPr>
          <p:cNvPr id="113" name="Image 20" descr="icon_octagon.png"/>
          <p:cNvPicPr>
            <a:picLocks noChangeAspect="1"/>
          </p:cNvPicPr>
          <p:nvPr/>
        </p:nvPicPr>
        <p:blipFill>
          <a:blip r:embed="rId17"/>
          <a:stretch>
            <a:fillRect/>
          </a:stretch>
        </p:blipFill>
        <p:spPr>
          <a:xfrm>
            <a:off x="896112" y="11868912"/>
            <a:ext cx="274320" cy="274320"/>
          </a:xfrm>
          <a:prstGeom prst="rect">
            <a:avLst/>
          </a:prstGeom>
        </p:spPr>
      </p:pic>
      <p:sp>
        <p:nvSpPr>
          <p:cNvPr id="114" name="Text 91"/>
          <p:cNvSpPr/>
          <p:nvPr/>
        </p:nvSpPr>
        <p:spPr>
          <a:xfrm>
            <a:off x="1261872" y="11768328"/>
            <a:ext cx="8961120" cy="475488"/>
          </a:xfrm>
          <a:prstGeom prst="rect">
            <a:avLst/>
          </a:prstGeom>
          <a:noFill/>
          <a:ln/>
        </p:spPr>
        <p:txBody>
          <a:bodyPr wrap="square" lIns="0" tIns="0" rIns="0" bIns="0" rtlCol="0" anchor="ctr"/>
          <a:lstStyle/>
          <a:p>
            <a:pPr marL="0" indent="0" algn="l">
              <a:buNone/>
            </a:pPr>
            <a:r>
              <a:rPr lang="en-US" sz="1650" b="1" kern="0" spc="50" dirty="0">
                <a:solidFill>
                  <a:srgbClr val="FFFFFF"/>
                </a:solidFill>
                <a:latin typeface="Times New Roman" panose="02020603050405020304" pitchFamily="18" charset="0"/>
                <a:ea typeface="Cambria" pitchFamily="34" charset="-122"/>
                <a:cs typeface="Times New Roman" panose="02020603050405020304" pitchFamily="18" charset="0"/>
              </a:rPr>
              <a:t>KEY RISK FACTORS IDENTIFIED</a:t>
            </a:r>
            <a:endParaRPr lang="en-US" sz="1650" dirty="0">
              <a:latin typeface="Times New Roman" panose="02020603050405020304" pitchFamily="18" charset="0"/>
              <a:cs typeface="Times New Roman" panose="02020603050405020304" pitchFamily="18" charset="0"/>
            </a:endParaRPr>
          </a:p>
        </p:txBody>
      </p:sp>
      <p:sp>
        <p:nvSpPr>
          <p:cNvPr id="115" name="Shape 92"/>
          <p:cNvSpPr/>
          <p:nvPr/>
        </p:nvSpPr>
        <p:spPr>
          <a:xfrm>
            <a:off x="411480" y="12499848"/>
            <a:ext cx="2313432" cy="1783080"/>
          </a:xfrm>
          <a:prstGeom prst="roundRect">
            <a:avLst>
              <a:gd name="adj" fmla="val 4615"/>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sp>
        <p:nvSpPr>
          <p:cNvPr id="116" name="Shape 93"/>
          <p:cNvSpPr/>
          <p:nvPr/>
        </p:nvSpPr>
        <p:spPr>
          <a:xfrm>
            <a:off x="576072" y="12664440"/>
            <a:ext cx="347472" cy="347472"/>
          </a:xfrm>
          <a:prstGeom prst="ellipse">
            <a:avLst/>
          </a:prstGeom>
          <a:solidFill>
            <a:srgbClr val="FDF1E2"/>
          </a:solidFill>
          <a:ln/>
        </p:spPr>
      </p:sp>
      <p:pic>
        <p:nvPicPr>
          <p:cNvPr id="117" name="Image 21" descr="icon_clock.png"/>
          <p:cNvPicPr>
            <a:picLocks noChangeAspect="1"/>
          </p:cNvPicPr>
          <p:nvPr/>
        </p:nvPicPr>
        <p:blipFill>
          <a:blip r:embed="rId18"/>
          <a:stretch>
            <a:fillRect/>
          </a:stretch>
        </p:blipFill>
        <p:spPr>
          <a:xfrm>
            <a:off x="621243" y="12709611"/>
            <a:ext cx="257129" cy="257129"/>
          </a:xfrm>
          <a:prstGeom prst="rect">
            <a:avLst/>
          </a:prstGeom>
        </p:spPr>
      </p:pic>
      <p:sp>
        <p:nvSpPr>
          <p:cNvPr id="118" name="Text 94"/>
          <p:cNvSpPr/>
          <p:nvPr/>
        </p:nvSpPr>
        <p:spPr>
          <a:xfrm>
            <a:off x="557784" y="13066776"/>
            <a:ext cx="2020824" cy="402336"/>
          </a:xfrm>
          <a:prstGeom prst="rect">
            <a:avLst/>
          </a:prstGeom>
          <a:noFill/>
          <a:ln/>
        </p:spPr>
        <p:txBody>
          <a:bodyPr wrap="square" lIns="0" tIns="0" rIns="0" bIns="0" rtlCol="0" anchor="t"/>
          <a:lstStyle/>
          <a:p>
            <a:pPr marL="0" indent="0" algn="l">
              <a:lnSpc>
                <a:spcPct val="105000"/>
              </a:lnSpc>
              <a:buNone/>
            </a:pPr>
            <a:r>
              <a:rPr lang="en-US" sz="1080" b="1" dirty="0">
                <a:solidFill>
                  <a:srgbClr val="E28B26"/>
                </a:solidFill>
                <a:latin typeface="Times New Roman" panose="02020603050405020304" pitchFamily="18" charset="0"/>
                <a:ea typeface="Calibri" pitchFamily="34" charset="-122"/>
                <a:cs typeface="Times New Roman" panose="02020603050405020304" pitchFamily="18" charset="0"/>
              </a:rPr>
              <a:t>TIME OF DAY</a:t>
            </a:r>
            <a:endParaRPr lang="en-US" sz="1080" dirty="0">
              <a:latin typeface="Times New Roman" panose="02020603050405020304" pitchFamily="18" charset="0"/>
              <a:cs typeface="Times New Roman" panose="02020603050405020304" pitchFamily="18" charset="0"/>
            </a:endParaRPr>
          </a:p>
        </p:txBody>
      </p:sp>
      <p:sp>
        <p:nvSpPr>
          <p:cNvPr id="119" name="Shape 95"/>
          <p:cNvSpPr/>
          <p:nvPr/>
        </p:nvSpPr>
        <p:spPr>
          <a:xfrm>
            <a:off x="568391" y="13403580"/>
            <a:ext cx="2020824" cy="266700"/>
          </a:xfrm>
          <a:prstGeom prst="roundRect">
            <a:avLst>
              <a:gd name="adj" fmla="val 15625"/>
            </a:avLst>
          </a:prstGeom>
          <a:solidFill>
            <a:srgbClr val="0F2A47"/>
          </a:solidFill>
          <a:ln/>
        </p:spPr>
      </p:sp>
      <p:sp>
        <p:nvSpPr>
          <p:cNvPr id="120" name="Text 96"/>
          <p:cNvSpPr/>
          <p:nvPr/>
        </p:nvSpPr>
        <p:spPr>
          <a:xfrm>
            <a:off x="557784" y="13304520"/>
            <a:ext cx="2020824" cy="530352"/>
          </a:xfrm>
          <a:prstGeom prst="rect">
            <a:avLst/>
          </a:prstGeom>
          <a:noFill/>
          <a:ln/>
        </p:spPr>
        <p:txBody>
          <a:bodyPr wrap="square" lIns="0" tIns="0" rIns="0" bIns="0"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28% between 5–7 PM</a:t>
            </a:r>
            <a:endParaRPr lang="en-US" sz="930" dirty="0"/>
          </a:p>
        </p:txBody>
      </p:sp>
      <p:sp>
        <p:nvSpPr>
          <p:cNvPr id="121" name="Text 97"/>
          <p:cNvSpPr/>
          <p:nvPr/>
        </p:nvSpPr>
        <p:spPr>
          <a:xfrm>
            <a:off x="530352" y="13761720"/>
            <a:ext cx="2048256" cy="493776"/>
          </a:xfrm>
          <a:prstGeom prst="rect">
            <a:avLst/>
          </a:prstGeom>
          <a:noFill/>
          <a:ln/>
        </p:spPr>
        <p:txBody>
          <a:bodyPr wrap="square" lIns="0" tIns="0" rIns="0" bIns="0" rtlCol="0" anchor="t"/>
          <a:lstStyle/>
          <a:p>
            <a:pPr marL="0" indent="0" algn="l">
              <a:lnSpc>
                <a:spcPct val="112000"/>
              </a:lnSpc>
              <a:buNone/>
            </a:pPr>
            <a:r>
              <a:rPr lang="en-US" sz="900" dirty="0">
                <a:solidFill>
                  <a:srgbClr val="1E2A38"/>
                </a:solidFill>
                <a:latin typeface="Times New Roman" panose="02020603050405020304" pitchFamily="18" charset="0"/>
                <a:ea typeface="Calibri" pitchFamily="34" charset="-122"/>
                <a:cs typeface="Times New Roman" panose="02020603050405020304" pitchFamily="18" charset="0"/>
              </a:rPr>
              <a:t>Evening rush hour records the highest share of accidents; night-time crashes tend to be the most severe due to reduced visibility.</a:t>
            </a:r>
            <a:endParaRPr lang="en-US" sz="900" dirty="0">
              <a:latin typeface="Times New Roman" panose="02020603050405020304" pitchFamily="18" charset="0"/>
              <a:cs typeface="Times New Roman" panose="02020603050405020304" pitchFamily="18" charset="0"/>
            </a:endParaRPr>
          </a:p>
        </p:txBody>
      </p:sp>
      <p:sp>
        <p:nvSpPr>
          <p:cNvPr id="122" name="Shape 98"/>
          <p:cNvSpPr/>
          <p:nvPr/>
        </p:nvSpPr>
        <p:spPr>
          <a:xfrm>
            <a:off x="2926080" y="12499848"/>
            <a:ext cx="2313432" cy="1783080"/>
          </a:xfrm>
          <a:prstGeom prst="roundRect">
            <a:avLst>
              <a:gd name="adj" fmla="val 4615"/>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sp>
        <p:nvSpPr>
          <p:cNvPr id="123" name="Shape 99"/>
          <p:cNvSpPr/>
          <p:nvPr/>
        </p:nvSpPr>
        <p:spPr>
          <a:xfrm>
            <a:off x="3090672" y="12664440"/>
            <a:ext cx="347472" cy="347472"/>
          </a:xfrm>
          <a:prstGeom prst="ellipse">
            <a:avLst/>
          </a:prstGeom>
          <a:solidFill>
            <a:srgbClr val="FDF1E2"/>
          </a:solidFill>
          <a:ln/>
        </p:spPr>
      </p:sp>
      <p:pic>
        <p:nvPicPr>
          <p:cNvPr id="124" name="Image 22" descr="icon_weather.png"/>
          <p:cNvPicPr>
            <a:picLocks noChangeAspect="1"/>
          </p:cNvPicPr>
          <p:nvPr/>
        </p:nvPicPr>
        <p:blipFill>
          <a:blip r:embed="rId19"/>
          <a:stretch>
            <a:fillRect/>
          </a:stretch>
        </p:blipFill>
        <p:spPr>
          <a:xfrm>
            <a:off x="3135843" y="12709611"/>
            <a:ext cx="257129" cy="257129"/>
          </a:xfrm>
          <a:prstGeom prst="rect">
            <a:avLst/>
          </a:prstGeom>
        </p:spPr>
      </p:pic>
      <p:sp>
        <p:nvSpPr>
          <p:cNvPr id="125" name="Text 100"/>
          <p:cNvSpPr/>
          <p:nvPr/>
        </p:nvSpPr>
        <p:spPr>
          <a:xfrm>
            <a:off x="3072384" y="13066776"/>
            <a:ext cx="2020824" cy="402336"/>
          </a:xfrm>
          <a:prstGeom prst="rect">
            <a:avLst/>
          </a:prstGeom>
          <a:noFill/>
          <a:ln/>
        </p:spPr>
        <p:txBody>
          <a:bodyPr wrap="square" lIns="0" tIns="0" rIns="0" bIns="0" rtlCol="0" anchor="t"/>
          <a:lstStyle/>
          <a:p>
            <a:pPr marL="0" indent="0" algn="l">
              <a:lnSpc>
                <a:spcPct val="105000"/>
              </a:lnSpc>
              <a:buNone/>
            </a:pPr>
            <a:r>
              <a:rPr lang="en-US" sz="1080" b="1" dirty="0">
                <a:solidFill>
                  <a:srgbClr val="E28B26"/>
                </a:solidFill>
                <a:latin typeface="Times New Roman" panose="02020603050405020304" pitchFamily="18" charset="0"/>
                <a:ea typeface="Calibri" pitchFamily="34" charset="-122"/>
                <a:cs typeface="Times New Roman" panose="02020603050405020304" pitchFamily="18" charset="0"/>
              </a:rPr>
              <a:t>WEATHER CONDITIONS</a:t>
            </a:r>
            <a:endParaRPr lang="en-US" sz="1080" dirty="0">
              <a:latin typeface="Times New Roman" panose="02020603050405020304" pitchFamily="18" charset="0"/>
              <a:cs typeface="Times New Roman" panose="02020603050405020304" pitchFamily="18" charset="0"/>
            </a:endParaRPr>
          </a:p>
        </p:txBody>
      </p:sp>
      <p:sp>
        <p:nvSpPr>
          <p:cNvPr id="126" name="Shape 101"/>
          <p:cNvSpPr/>
          <p:nvPr/>
        </p:nvSpPr>
        <p:spPr>
          <a:xfrm>
            <a:off x="3035808" y="13400532"/>
            <a:ext cx="2020824" cy="292608"/>
          </a:xfrm>
          <a:prstGeom prst="roundRect">
            <a:avLst>
              <a:gd name="adj" fmla="val 15625"/>
            </a:avLst>
          </a:prstGeom>
          <a:solidFill>
            <a:srgbClr val="0F2A47"/>
          </a:solidFill>
          <a:ln/>
        </p:spPr>
      </p:sp>
      <p:sp>
        <p:nvSpPr>
          <p:cNvPr id="127" name="Text 102"/>
          <p:cNvSpPr/>
          <p:nvPr/>
        </p:nvSpPr>
        <p:spPr>
          <a:xfrm>
            <a:off x="3072384" y="13359384"/>
            <a:ext cx="2020824" cy="475488"/>
          </a:xfrm>
          <a:prstGeom prst="rect">
            <a:avLst/>
          </a:prstGeom>
          <a:noFill/>
          <a:ln/>
        </p:spPr>
        <p:txBody>
          <a:bodyPr wrap="square" lIns="0" tIns="0" rIns="0" bIns="0"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2.1x severity in rain / fog</a:t>
            </a:r>
            <a:endParaRPr lang="en-US" sz="930" dirty="0"/>
          </a:p>
        </p:txBody>
      </p:sp>
      <p:sp>
        <p:nvSpPr>
          <p:cNvPr id="128" name="Text 103"/>
          <p:cNvSpPr/>
          <p:nvPr/>
        </p:nvSpPr>
        <p:spPr>
          <a:xfrm>
            <a:off x="3072384" y="13780008"/>
            <a:ext cx="2020824" cy="475488"/>
          </a:xfrm>
          <a:prstGeom prst="rect">
            <a:avLst/>
          </a:prstGeom>
          <a:noFill/>
          <a:ln/>
        </p:spPr>
        <p:txBody>
          <a:bodyPr wrap="square" lIns="0" tIns="0" rIns="0" bIns="0" rtlCol="0" anchor="t"/>
          <a:lstStyle/>
          <a:p>
            <a:pPr marL="0" indent="0" algn="l">
              <a:lnSpc>
                <a:spcPct val="112000"/>
              </a:lnSpc>
              <a:buNone/>
            </a:pPr>
            <a:r>
              <a:rPr lang="en-US" sz="900" dirty="0">
                <a:solidFill>
                  <a:srgbClr val="1E2A38"/>
                </a:solidFill>
                <a:latin typeface="Times New Roman" panose="02020603050405020304" pitchFamily="18" charset="0"/>
                <a:ea typeface="Calibri" pitchFamily="34" charset="-122"/>
                <a:cs typeface="Times New Roman" panose="02020603050405020304" pitchFamily="18" charset="0"/>
              </a:rPr>
              <a:t>Rain and fog sharply raise accident risk despite carrying much less overall traffic than clear days.</a:t>
            </a:r>
            <a:endParaRPr lang="en-US" sz="900" dirty="0">
              <a:latin typeface="Times New Roman" panose="02020603050405020304" pitchFamily="18" charset="0"/>
              <a:cs typeface="Times New Roman" panose="02020603050405020304" pitchFamily="18" charset="0"/>
            </a:endParaRPr>
          </a:p>
        </p:txBody>
      </p:sp>
      <p:sp>
        <p:nvSpPr>
          <p:cNvPr id="129" name="Shape 104"/>
          <p:cNvSpPr/>
          <p:nvPr/>
        </p:nvSpPr>
        <p:spPr>
          <a:xfrm>
            <a:off x="5440680" y="12499848"/>
            <a:ext cx="2313432" cy="1783080"/>
          </a:xfrm>
          <a:prstGeom prst="roundRect">
            <a:avLst>
              <a:gd name="adj" fmla="val 4615"/>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sp>
        <p:nvSpPr>
          <p:cNvPr id="130" name="Shape 105"/>
          <p:cNvSpPr/>
          <p:nvPr/>
        </p:nvSpPr>
        <p:spPr>
          <a:xfrm>
            <a:off x="5605272" y="12664440"/>
            <a:ext cx="347472" cy="347472"/>
          </a:xfrm>
          <a:prstGeom prst="ellipse">
            <a:avLst/>
          </a:prstGeom>
          <a:solidFill>
            <a:srgbClr val="FDF1E2"/>
          </a:solidFill>
          <a:ln/>
        </p:spPr>
      </p:sp>
      <p:pic>
        <p:nvPicPr>
          <p:cNvPr id="131" name="Image 23" descr="icon_car.png"/>
          <p:cNvPicPr>
            <a:picLocks noChangeAspect="1"/>
          </p:cNvPicPr>
          <p:nvPr/>
        </p:nvPicPr>
        <p:blipFill>
          <a:blip r:embed="rId20"/>
          <a:stretch>
            <a:fillRect/>
          </a:stretch>
        </p:blipFill>
        <p:spPr>
          <a:xfrm>
            <a:off x="5650443" y="12709611"/>
            <a:ext cx="257129" cy="257129"/>
          </a:xfrm>
          <a:prstGeom prst="rect">
            <a:avLst/>
          </a:prstGeom>
        </p:spPr>
      </p:pic>
      <p:sp>
        <p:nvSpPr>
          <p:cNvPr id="132" name="Text 106"/>
          <p:cNvSpPr/>
          <p:nvPr/>
        </p:nvSpPr>
        <p:spPr>
          <a:xfrm>
            <a:off x="5586984" y="13066776"/>
            <a:ext cx="2020824" cy="402336"/>
          </a:xfrm>
          <a:prstGeom prst="rect">
            <a:avLst/>
          </a:prstGeom>
          <a:noFill/>
          <a:ln/>
        </p:spPr>
        <p:txBody>
          <a:bodyPr wrap="square" lIns="0" tIns="0" rIns="0" bIns="0" rtlCol="0" anchor="t"/>
          <a:lstStyle/>
          <a:p>
            <a:pPr marL="0" indent="0" algn="l">
              <a:lnSpc>
                <a:spcPct val="105000"/>
              </a:lnSpc>
              <a:buNone/>
            </a:pPr>
            <a:r>
              <a:rPr lang="en-US" sz="1080" b="1" dirty="0">
                <a:solidFill>
                  <a:srgbClr val="E28B26"/>
                </a:solidFill>
                <a:latin typeface="Times New Roman" panose="02020603050405020304" pitchFamily="18" charset="0"/>
                <a:ea typeface="Calibri" pitchFamily="34" charset="-122"/>
                <a:cs typeface="Times New Roman" panose="02020603050405020304" pitchFamily="18" charset="0"/>
              </a:rPr>
              <a:t>ROAD &amp; VEHICLE TYPE</a:t>
            </a:r>
            <a:endParaRPr lang="en-US" sz="1080" dirty="0">
              <a:latin typeface="Times New Roman" panose="02020603050405020304" pitchFamily="18" charset="0"/>
              <a:cs typeface="Times New Roman" panose="02020603050405020304" pitchFamily="18" charset="0"/>
            </a:endParaRPr>
          </a:p>
        </p:txBody>
      </p:sp>
      <p:sp>
        <p:nvSpPr>
          <p:cNvPr id="133" name="Shape 107"/>
          <p:cNvSpPr/>
          <p:nvPr/>
        </p:nvSpPr>
        <p:spPr>
          <a:xfrm>
            <a:off x="5586984" y="13403580"/>
            <a:ext cx="2020824" cy="289560"/>
          </a:xfrm>
          <a:prstGeom prst="roundRect">
            <a:avLst>
              <a:gd name="adj" fmla="val 15625"/>
            </a:avLst>
          </a:prstGeom>
          <a:solidFill>
            <a:srgbClr val="0F2A47"/>
          </a:solidFill>
          <a:ln/>
        </p:spPr>
      </p:sp>
      <p:sp>
        <p:nvSpPr>
          <p:cNvPr id="134" name="Text 108"/>
          <p:cNvSpPr/>
          <p:nvPr/>
        </p:nvSpPr>
        <p:spPr>
          <a:xfrm>
            <a:off x="5586984" y="13469112"/>
            <a:ext cx="2020824" cy="292608"/>
          </a:xfrm>
          <a:prstGeom prst="rect">
            <a:avLst/>
          </a:prstGeom>
          <a:noFill/>
          <a:ln/>
        </p:spPr>
        <p:txBody>
          <a:bodyPr wrap="square" lIns="0" tIns="0" rIns="0" bIns="0"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3x fatality rate on highways</a:t>
            </a:r>
            <a:endParaRPr lang="en-US" sz="930" dirty="0"/>
          </a:p>
        </p:txBody>
      </p:sp>
      <p:sp>
        <p:nvSpPr>
          <p:cNvPr id="135" name="Text 109"/>
          <p:cNvSpPr/>
          <p:nvPr/>
        </p:nvSpPr>
        <p:spPr>
          <a:xfrm>
            <a:off x="5605272" y="13780008"/>
            <a:ext cx="2002536" cy="475488"/>
          </a:xfrm>
          <a:prstGeom prst="rect">
            <a:avLst/>
          </a:prstGeom>
          <a:noFill/>
          <a:ln/>
        </p:spPr>
        <p:txBody>
          <a:bodyPr wrap="square" lIns="0" tIns="0" rIns="0" bIns="0" rtlCol="0" anchor="t"/>
          <a:lstStyle/>
          <a:p>
            <a:pPr marL="0" indent="0" algn="l">
              <a:lnSpc>
                <a:spcPct val="112000"/>
              </a:lnSpc>
              <a:buNone/>
            </a:pPr>
            <a:r>
              <a:rPr lang="en-US" sz="830" dirty="0">
                <a:solidFill>
                  <a:srgbClr val="1E2A38"/>
                </a:solidFill>
                <a:latin typeface="Times New Roman" panose="02020603050405020304" pitchFamily="18" charset="0"/>
                <a:ea typeface="Calibri" pitchFamily="34" charset="-122"/>
                <a:cs typeface="Times New Roman" panose="02020603050405020304" pitchFamily="18" charset="0"/>
              </a:rPr>
              <a:t>Highways see fewer accidents overall but far higher fatality rates than busier, congested urban roads.</a:t>
            </a:r>
            <a:endParaRPr lang="en-US" sz="830" dirty="0">
              <a:latin typeface="Times New Roman" panose="02020603050405020304" pitchFamily="18" charset="0"/>
              <a:cs typeface="Times New Roman" panose="02020603050405020304" pitchFamily="18" charset="0"/>
            </a:endParaRPr>
          </a:p>
        </p:txBody>
      </p:sp>
      <p:sp>
        <p:nvSpPr>
          <p:cNvPr id="136" name="Shape 110"/>
          <p:cNvSpPr/>
          <p:nvPr/>
        </p:nvSpPr>
        <p:spPr>
          <a:xfrm>
            <a:off x="7955280" y="12499848"/>
            <a:ext cx="2313432" cy="1783080"/>
          </a:xfrm>
          <a:prstGeom prst="roundRect">
            <a:avLst>
              <a:gd name="adj" fmla="val 4615"/>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txBody>
          <a:bodyPr/>
          <a:lstStyle/>
          <a:p>
            <a:r>
              <a:rPr lang="en-US" dirty="0"/>
              <a:t>+</a:t>
            </a:r>
            <a:endParaRPr lang="en-IN" dirty="0"/>
          </a:p>
        </p:txBody>
      </p:sp>
      <p:sp>
        <p:nvSpPr>
          <p:cNvPr id="137" name="Shape 111"/>
          <p:cNvSpPr/>
          <p:nvPr/>
        </p:nvSpPr>
        <p:spPr>
          <a:xfrm>
            <a:off x="8119872" y="12664440"/>
            <a:ext cx="347472" cy="347472"/>
          </a:xfrm>
          <a:prstGeom prst="ellipse">
            <a:avLst/>
          </a:prstGeom>
          <a:solidFill>
            <a:srgbClr val="FDF1E2"/>
          </a:solidFill>
          <a:ln/>
        </p:spPr>
      </p:sp>
      <p:pic>
        <p:nvPicPr>
          <p:cNvPr id="138" name="Image 24" descr="icon_junction.png"/>
          <p:cNvPicPr>
            <a:picLocks noChangeAspect="1"/>
          </p:cNvPicPr>
          <p:nvPr/>
        </p:nvPicPr>
        <p:blipFill>
          <a:blip r:embed="rId21"/>
          <a:stretch>
            <a:fillRect/>
          </a:stretch>
        </p:blipFill>
        <p:spPr>
          <a:xfrm>
            <a:off x="8165043" y="12709611"/>
            <a:ext cx="257129" cy="257129"/>
          </a:xfrm>
          <a:prstGeom prst="rect">
            <a:avLst/>
          </a:prstGeom>
        </p:spPr>
      </p:pic>
      <p:sp>
        <p:nvSpPr>
          <p:cNvPr id="139" name="Text 112"/>
          <p:cNvSpPr/>
          <p:nvPr/>
        </p:nvSpPr>
        <p:spPr>
          <a:xfrm>
            <a:off x="8101584" y="13066776"/>
            <a:ext cx="2020824" cy="402336"/>
          </a:xfrm>
          <a:prstGeom prst="rect">
            <a:avLst/>
          </a:prstGeom>
          <a:noFill/>
          <a:ln/>
        </p:spPr>
        <p:txBody>
          <a:bodyPr wrap="square" lIns="0" tIns="0" rIns="0" bIns="0" rtlCol="0" anchor="t"/>
          <a:lstStyle/>
          <a:p>
            <a:pPr marL="0" indent="0">
              <a:lnSpc>
                <a:spcPct val="105000"/>
              </a:lnSpc>
              <a:buNone/>
            </a:pPr>
            <a:r>
              <a:rPr lang="en-US" sz="1000" b="1" dirty="0">
                <a:solidFill>
                  <a:srgbClr val="E28B26"/>
                </a:solidFill>
                <a:latin typeface="Times New Roman" panose="02020603050405020304" pitchFamily="18" charset="0"/>
                <a:ea typeface="Calibri" pitchFamily="34" charset="-122"/>
                <a:cs typeface="Times New Roman" panose="02020603050405020304" pitchFamily="18" charset="0"/>
              </a:rPr>
              <a:t>JUNCTIONS &amp;INTERSECTIONS</a:t>
            </a:r>
            <a:endParaRPr lang="en-US" sz="1000" dirty="0">
              <a:latin typeface="Times New Roman" panose="02020603050405020304" pitchFamily="18" charset="0"/>
              <a:cs typeface="Times New Roman" panose="02020603050405020304" pitchFamily="18" charset="0"/>
            </a:endParaRPr>
          </a:p>
        </p:txBody>
      </p:sp>
      <p:sp>
        <p:nvSpPr>
          <p:cNvPr id="140" name="Shape 113"/>
          <p:cNvSpPr/>
          <p:nvPr/>
        </p:nvSpPr>
        <p:spPr>
          <a:xfrm>
            <a:off x="8110728" y="13400532"/>
            <a:ext cx="2020824" cy="292608"/>
          </a:xfrm>
          <a:prstGeom prst="roundRect">
            <a:avLst>
              <a:gd name="adj" fmla="val 15625"/>
            </a:avLst>
          </a:prstGeom>
          <a:solidFill>
            <a:srgbClr val="0F2A47"/>
          </a:solidFill>
          <a:ln/>
        </p:spPr>
      </p:sp>
      <p:sp>
        <p:nvSpPr>
          <p:cNvPr id="141" name="Text 114"/>
          <p:cNvSpPr/>
          <p:nvPr/>
        </p:nvSpPr>
        <p:spPr>
          <a:xfrm>
            <a:off x="8101584" y="13469112"/>
            <a:ext cx="2020824" cy="292608"/>
          </a:xfrm>
          <a:prstGeom prst="rect">
            <a:avLst/>
          </a:prstGeom>
          <a:noFill/>
          <a:ln/>
        </p:spPr>
        <p:txBody>
          <a:bodyPr wrap="square" lIns="0" tIns="0" rIns="0" bIns="0" rtlCol="0" anchor="ctr"/>
          <a:lstStyle/>
          <a:p>
            <a:pPr marL="0" indent="0" algn="ctr">
              <a:buNone/>
            </a:pPr>
            <a:r>
              <a:rPr lang="en-US" sz="930" b="1" dirty="0">
                <a:solidFill>
                  <a:srgbClr val="FFFFFF"/>
                </a:solidFill>
                <a:latin typeface="Calibri" pitchFamily="34" charset="0"/>
                <a:ea typeface="Calibri" pitchFamily="34" charset="-122"/>
                <a:cs typeface="Calibri" pitchFamily="34" charset="-120"/>
              </a:rPr>
              <a:t>41% of urban accidents</a:t>
            </a:r>
            <a:endParaRPr lang="en-US" sz="930" dirty="0"/>
          </a:p>
        </p:txBody>
      </p:sp>
      <p:sp>
        <p:nvSpPr>
          <p:cNvPr id="142" name="Text 115"/>
          <p:cNvSpPr/>
          <p:nvPr/>
        </p:nvSpPr>
        <p:spPr>
          <a:xfrm>
            <a:off x="8101584" y="13780008"/>
            <a:ext cx="2020824" cy="475488"/>
          </a:xfrm>
          <a:prstGeom prst="rect">
            <a:avLst/>
          </a:prstGeom>
          <a:noFill/>
          <a:ln/>
        </p:spPr>
        <p:txBody>
          <a:bodyPr wrap="square" lIns="0" tIns="0" rIns="0" bIns="0" rtlCol="0" anchor="t"/>
          <a:lstStyle/>
          <a:p>
            <a:pPr marL="0" indent="0" algn="l">
              <a:lnSpc>
                <a:spcPct val="112000"/>
              </a:lnSpc>
              <a:buNone/>
            </a:pPr>
            <a:r>
              <a:rPr lang="en-US" sz="900" dirty="0">
                <a:solidFill>
                  <a:srgbClr val="1E2A38"/>
                </a:solidFill>
                <a:latin typeface="Times New Roman" panose="02020603050405020304" pitchFamily="18" charset="0"/>
                <a:ea typeface="Calibri" pitchFamily="34" charset="-122"/>
                <a:cs typeface="Times New Roman" panose="02020603050405020304" pitchFamily="18" charset="0"/>
              </a:rPr>
              <a:t>Unsignalled intersections and poor lane discipline make junctions a major hotspot within city limits.</a:t>
            </a:r>
            <a:endParaRPr lang="en-US" sz="900" dirty="0">
              <a:latin typeface="Times New Roman" panose="02020603050405020304" pitchFamily="18" charset="0"/>
              <a:cs typeface="Times New Roman" panose="02020603050405020304" pitchFamily="18" charset="0"/>
            </a:endParaRPr>
          </a:p>
        </p:txBody>
      </p:sp>
      <p:sp>
        <p:nvSpPr>
          <p:cNvPr id="143" name="Shape 116"/>
          <p:cNvSpPr/>
          <p:nvPr/>
        </p:nvSpPr>
        <p:spPr>
          <a:xfrm>
            <a:off x="320040" y="14557248"/>
            <a:ext cx="10049256" cy="475488"/>
          </a:xfrm>
          <a:prstGeom prst="roundRect">
            <a:avLst>
              <a:gd name="adj" fmla="val 13462"/>
            </a:avLst>
          </a:prstGeom>
          <a:solidFill>
            <a:schemeClr val="accent5">
              <a:lumMod val="50000"/>
            </a:schemeClr>
          </a:solidFill>
          <a:ln/>
          <a:effectLst>
            <a:outerShdw blurRad="101600" dist="38100" dir="5400000" algn="bl" rotWithShape="0">
              <a:srgbClr val="0A1F35">
                <a:alpha val="18000"/>
              </a:srgbClr>
            </a:outerShdw>
          </a:effectLst>
        </p:spPr>
      </p:sp>
      <p:sp>
        <p:nvSpPr>
          <p:cNvPr id="144" name="Shape 117"/>
          <p:cNvSpPr/>
          <p:nvPr/>
        </p:nvSpPr>
        <p:spPr>
          <a:xfrm>
            <a:off x="457200" y="14639544"/>
            <a:ext cx="310896" cy="310896"/>
          </a:xfrm>
          <a:prstGeom prst="ellipse">
            <a:avLst/>
          </a:prstGeom>
          <a:solidFill>
            <a:srgbClr val="E28B26"/>
          </a:solidFill>
          <a:ln/>
        </p:spPr>
      </p:sp>
      <p:sp>
        <p:nvSpPr>
          <p:cNvPr id="145" name="Text 118"/>
          <p:cNvSpPr/>
          <p:nvPr/>
        </p:nvSpPr>
        <p:spPr>
          <a:xfrm>
            <a:off x="457200" y="14639544"/>
            <a:ext cx="310896" cy="310896"/>
          </a:xfrm>
          <a:prstGeom prst="rect">
            <a:avLst/>
          </a:prstGeom>
          <a:noFill/>
          <a:ln/>
        </p:spPr>
        <p:txBody>
          <a:bodyPr wrap="square" lIns="0" tIns="0" rIns="0" bIns="0" rtlCol="0" anchor="ctr"/>
          <a:lstStyle/>
          <a:p>
            <a:pPr marL="0" indent="0" algn="ctr">
              <a:buNone/>
            </a:pPr>
            <a:r>
              <a:rPr lang="en-US" sz="1400" b="1" dirty="0">
                <a:solidFill>
                  <a:srgbClr val="0F2A47"/>
                </a:solidFill>
                <a:latin typeface="Calibri" pitchFamily="34" charset="0"/>
                <a:ea typeface="Calibri" pitchFamily="34" charset="-122"/>
                <a:cs typeface="Calibri" pitchFamily="34" charset="-120"/>
              </a:rPr>
              <a:t>5</a:t>
            </a:r>
            <a:endParaRPr lang="en-US" sz="1400" dirty="0"/>
          </a:p>
        </p:txBody>
      </p:sp>
      <p:pic>
        <p:nvPicPr>
          <p:cNvPr id="146" name="Image 25" descr="icon_chart.png"/>
          <p:cNvPicPr>
            <a:picLocks noChangeAspect="1"/>
          </p:cNvPicPr>
          <p:nvPr/>
        </p:nvPicPr>
        <p:blipFill>
          <a:blip r:embed="rId22"/>
          <a:stretch>
            <a:fillRect/>
          </a:stretch>
        </p:blipFill>
        <p:spPr>
          <a:xfrm>
            <a:off x="896112" y="14657832"/>
            <a:ext cx="274320" cy="274320"/>
          </a:xfrm>
          <a:prstGeom prst="rect">
            <a:avLst/>
          </a:prstGeom>
        </p:spPr>
      </p:pic>
      <p:sp>
        <p:nvSpPr>
          <p:cNvPr id="147" name="Text 119"/>
          <p:cNvSpPr/>
          <p:nvPr/>
        </p:nvSpPr>
        <p:spPr>
          <a:xfrm>
            <a:off x="1261872" y="14557248"/>
            <a:ext cx="8961120" cy="475488"/>
          </a:xfrm>
          <a:prstGeom prst="rect">
            <a:avLst/>
          </a:prstGeom>
          <a:noFill/>
          <a:ln/>
        </p:spPr>
        <p:txBody>
          <a:bodyPr wrap="square" lIns="0" tIns="0" rIns="0" bIns="0" rtlCol="0" anchor="ctr"/>
          <a:lstStyle/>
          <a:p>
            <a:pPr marL="0" indent="0" algn="l">
              <a:buNone/>
            </a:pPr>
            <a:r>
              <a:rPr lang="en-US" sz="1650" b="1" kern="0" spc="50" dirty="0">
                <a:solidFill>
                  <a:srgbClr val="FFFFFF"/>
                </a:solidFill>
                <a:latin typeface="Times New Roman" panose="02020603050405020304" pitchFamily="18" charset="0"/>
                <a:ea typeface="Cambria" pitchFamily="34" charset="-122"/>
                <a:cs typeface="Times New Roman" panose="02020603050405020304" pitchFamily="18" charset="0"/>
              </a:rPr>
              <a:t>RESULTS — ACCIDENT DATA ANALYSIS</a:t>
            </a:r>
            <a:endParaRPr lang="en-US" sz="1650" dirty="0">
              <a:latin typeface="Times New Roman" panose="02020603050405020304" pitchFamily="18" charset="0"/>
              <a:cs typeface="Times New Roman" panose="02020603050405020304" pitchFamily="18" charset="0"/>
            </a:endParaRPr>
          </a:p>
        </p:txBody>
      </p:sp>
      <p:sp>
        <p:nvSpPr>
          <p:cNvPr id="148" name="Shape 120"/>
          <p:cNvSpPr/>
          <p:nvPr/>
        </p:nvSpPr>
        <p:spPr>
          <a:xfrm>
            <a:off x="411480" y="15288768"/>
            <a:ext cx="1810512" cy="804672"/>
          </a:xfrm>
          <a:prstGeom prst="roundRect">
            <a:avLst>
              <a:gd name="adj" fmla="val 102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149" name="Shape 121"/>
          <p:cNvSpPr/>
          <p:nvPr/>
        </p:nvSpPr>
        <p:spPr>
          <a:xfrm>
            <a:off x="557784" y="15407640"/>
            <a:ext cx="292608" cy="292608"/>
          </a:xfrm>
          <a:prstGeom prst="ellipse">
            <a:avLst/>
          </a:prstGeom>
          <a:solidFill>
            <a:srgbClr val="FDF1E2"/>
          </a:solidFill>
          <a:ln/>
        </p:spPr>
      </p:sp>
      <p:pic>
        <p:nvPicPr>
          <p:cNvPr id="150" name="Image 26" descr="icon_observations.png"/>
          <p:cNvPicPr>
            <a:picLocks noChangeAspect="1"/>
          </p:cNvPicPr>
          <p:nvPr/>
        </p:nvPicPr>
        <p:blipFill>
          <a:blip r:embed="rId5"/>
          <a:stretch>
            <a:fillRect/>
          </a:stretch>
        </p:blipFill>
        <p:spPr>
          <a:xfrm>
            <a:off x="595823" y="15445679"/>
            <a:ext cx="216530" cy="216530"/>
          </a:xfrm>
          <a:prstGeom prst="rect">
            <a:avLst/>
          </a:prstGeom>
        </p:spPr>
      </p:pic>
      <p:sp>
        <p:nvSpPr>
          <p:cNvPr id="151" name="Text 122"/>
          <p:cNvSpPr/>
          <p:nvPr/>
        </p:nvSpPr>
        <p:spPr>
          <a:xfrm>
            <a:off x="623620" y="15288768"/>
            <a:ext cx="1525219" cy="475488"/>
          </a:xfrm>
          <a:prstGeom prst="rect">
            <a:avLst/>
          </a:prstGeom>
          <a:noFill/>
          <a:ln/>
        </p:spPr>
        <p:txBody>
          <a:bodyPr wrap="square" lIns="0" tIns="0" rIns="0" bIns="0" rtlCol="0" anchor="ctr"/>
          <a:lstStyle/>
          <a:p>
            <a:pPr marL="0" indent="0" algn="ctr">
              <a:buNone/>
            </a:pPr>
            <a:r>
              <a:rPr lang="en-US" sz="900" b="1" kern="0" spc="50" dirty="0">
                <a:solidFill>
                  <a:srgbClr val="60707F"/>
                </a:solidFill>
                <a:latin typeface="Times New Roman" panose="02020603050405020304" pitchFamily="18" charset="0"/>
                <a:ea typeface="Calibri" pitchFamily="34" charset="-122"/>
                <a:cs typeface="Times New Roman" panose="02020603050405020304" pitchFamily="18" charset="0"/>
              </a:rPr>
              <a:t>OBSERVATIONS</a:t>
            </a:r>
            <a:endParaRPr lang="en-US" sz="900" dirty="0">
              <a:latin typeface="Times New Roman" panose="02020603050405020304" pitchFamily="18" charset="0"/>
              <a:cs typeface="Times New Roman" panose="02020603050405020304" pitchFamily="18" charset="0"/>
            </a:endParaRPr>
          </a:p>
        </p:txBody>
      </p:sp>
      <p:sp>
        <p:nvSpPr>
          <p:cNvPr id="152" name="Text 123"/>
          <p:cNvSpPr/>
          <p:nvPr/>
        </p:nvSpPr>
        <p:spPr>
          <a:xfrm>
            <a:off x="484632" y="15755112"/>
            <a:ext cx="1664208" cy="475488"/>
          </a:xfrm>
          <a:prstGeom prst="rect">
            <a:avLst/>
          </a:prstGeom>
          <a:noFill/>
          <a:ln/>
        </p:spPr>
        <p:txBody>
          <a:bodyPr wrap="square" lIns="0" tIns="0" rIns="0" bIns="0" rtlCol="0" anchor="t"/>
          <a:lstStyle/>
          <a:p>
            <a:pPr marL="0" indent="0" algn="ctr">
              <a:buNone/>
            </a:pPr>
            <a:r>
              <a:rPr lang="en-US" sz="1500" b="1" dirty="0">
                <a:solidFill>
                  <a:srgbClr val="0F2A47"/>
                </a:solidFill>
                <a:latin typeface="Times New Roman" panose="02020603050405020304" pitchFamily="18" charset="0"/>
                <a:ea typeface="Calibri" pitchFamily="34" charset="-122"/>
                <a:cs typeface="Times New Roman" panose="02020603050405020304" pitchFamily="18" charset="0"/>
              </a:rPr>
              <a:t>12,314</a:t>
            </a:r>
            <a:endParaRPr lang="en-US" sz="1500" dirty="0">
              <a:latin typeface="Times New Roman" panose="02020603050405020304" pitchFamily="18" charset="0"/>
              <a:cs typeface="Times New Roman" panose="02020603050405020304" pitchFamily="18" charset="0"/>
            </a:endParaRPr>
          </a:p>
        </p:txBody>
      </p:sp>
      <p:sp>
        <p:nvSpPr>
          <p:cNvPr id="153" name="Shape 124"/>
          <p:cNvSpPr/>
          <p:nvPr/>
        </p:nvSpPr>
        <p:spPr>
          <a:xfrm>
            <a:off x="2404872" y="15288768"/>
            <a:ext cx="1810512" cy="804672"/>
          </a:xfrm>
          <a:prstGeom prst="roundRect">
            <a:avLst>
              <a:gd name="adj" fmla="val 102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154" name="Shape 125"/>
          <p:cNvSpPr/>
          <p:nvPr/>
        </p:nvSpPr>
        <p:spPr>
          <a:xfrm>
            <a:off x="2551176" y="15407640"/>
            <a:ext cx="292608" cy="292608"/>
          </a:xfrm>
          <a:prstGeom prst="ellipse">
            <a:avLst/>
          </a:prstGeom>
          <a:solidFill>
            <a:srgbClr val="FDF1E2"/>
          </a:solidFill>
          <a:ln/>
        </p:spPr>
      </p:sp>
      <p:pic>
        <p:nvPicPr>
          <p:cNvPr id="155" name="Image 27" descr="icon_octagon_amber.png"/>
          <p:cNvPicPr>
            <a:picLocks noChangeAspect="1"/>
          </p:cNvPicPr>
          <p:nvPr/>
        </p:nvPicPr>
        <p:blipFill>
          <a:blip r:embed="rId23"/>
          <a:stretch>
            <a:fillRect/>
          </a:stretch>
        </p:blipFill>
        <p:spPr>
          <a:xfrm>
            <a:off x="2589215" y="15445679"/>
            <a:ext cx="216530" cy="216530"/>
          </a:xfrm>
          <a:prstGeom prst="rect">
            <a:avLst/>
          </a:prstGeom>
        </p:spPr>
      </p:pic>
      <p:sp>
        <p:nvSpPr>
          <p:cNvPr id="156" name="Text 126"/>
          <p:cNvSpPr/>
          <p:nvPr/>
        </p:nvSpPr>
        <p:spPr>
          <a:xfrm>
            <a:off x="2551176" y="15288768"/>
            <a:ext cx="1591056" cy="475488"/>
          </a:xfrm>
          <a:prstGeom prst="rect">
            <a:avLst/>
          </a:prstGeom>
          <a:noFill/>
          <a:ln/>
        </p:spPr>
        <p:txBody>
          <a:bodyPr wrap="square" lIns="0" tIns="0" rIns="0" bIns="0" rtlCol="0" anchor="ctr"/>
          <a:lstStyle/>
          <a:p>
            <a:pPr marL="0" indent="0" algn="ctr">
              <a:buNone/>
            </a:pPr>
            <a:r>
              <a:rPr lang="en-US" sz="900" b="1" kern="0" spc="50" dirty="0">
                <a:solidFill>
                  <a:srgbClr val="60707F"/>
                </a:solidFill>
                <a:latin typeface="Times New Roman" panose="02020603050405020304" pitchFamily="18" charset="0"/>
                <a:ea typeface="Calibri" pitchFamily="34" charset="-122"/>
                <a:cs typeface="Times New Roman" panose="02020603050405020304" pitchFamily="18" charset="0"/>
              </a:rPr>
              <a:t>FATAL RATE</a:t>
            </a:r>
            <a:endParaRPr lang="en-US" sz="900" dirty="0">
              <a:latin typeface="Times New Roman" panose="02020603050405020304" pitchFamily="18" charset="0"/>
              <a:cs typeface="Times New Roman" panose="02020603050405020304" pitchFamily="18" charset="0"/>
            </a:endParaRPr>
          </a:p>
        </p:txBody>
      </p:sp>
      <p:sp>
        <p:nvSpPr>
          <p:cNvPr id="157" name="Text 127"/>
          <p:cNvSpPr/>
          <p:nvPr/>
        </p:nvSpPr>
        <p:spPr>
          <a:xfrm>
            <a:off x="2478024" y="15764256"/>
            <a:ext cx="1664208" cy="466344"/>
          </a:xfrm>
          <a:prstGeom prst="rect">
            <a:avLst/>
          </a:prstGeom>
          <a:noFill/>
          <a:ln/>
        </p:spPr>
        <p:txBody>
          <a:bodyPr wrap="square" lIns="0" tIns="0" rIns="0" bIns="0" rtlCol="0" anchor="t"/>
          <a:lstStyle/>
          <a:p>
            <a:pPr marL="0" indent="0" algn="ctr">
              <a:buNone/>
            </a:pPr>
            <a:r>
              <a:rPr lang="en-US" sz="1500" b="1" dirty="0">
                <a:solidFill>
                  <a:srgbClr val="0F2A47"/>
                </a:solidFill>
                <a:latin typeface="Times New Roman" panose="02020603050405020304" pitchFamily="18" charset="0"/>
                <a:ea typeface="Calibri" pitchFamily="34" charset="-122"/>
                <a:cs typeface="Times New Roman" panose="02020603050405020304" pitchFamily="18" charset="0"/>
              </a:rPr>
              <a:t>15.0%</a:t>
            </a:r>
            <a:endParaRPr lang="en-US" sz="1500" dirty="0">
              <a:latin typeface="Times New Roman" panose="02020603050405020304" pitchFamily="18" charset="0"/>
              <a:cs typeface="Times New Roman" panose="02020603050405020304" pitchFamily="18" charset="0"/>
            </a:endParaRPr>
          </a:p>
        </p:txBody>
      </p:sp>
      <p:sp>
        <p:nvSpPr>
          <p:cNvPr id="158" name="Shape 128"/>
          <p:cNvSpPr/>
          <p:nvPr/>
        </p:nvSpPr>
        <p:spPr>
          <a:xfrm>
            <a:off x="4398264" y="15288768"/>
            <a:ext cx="1810512" cy="804672"/>
          </a:xfrm>
          <a:prstGeom prst="roundRect">
            <a:avLst>
              <a:gd name="adj" fmla="val 102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159" name="Shape 129"/>
          <p:cNvSpPr/>
          <p:nvPr/>
        </p:nvSpPr>
        <p:spPr>
          <a:xfrm>
            <a:off x="4544568" y="15407640"/>
            <a:ext cx="292608" cy="292608"/>
          </a:xfrm>
          <a:prstGeom prst="ellipse">
            <a:avLst/>
          </a:prstGeom>
          <a:solidFill>
            <a:srgbClr val="FDF1E2"/>
          </a:solidFill>
          <a:ln/>
        </p:spPr>
      </p:sp>
      <p:pic>
        <p:nvPicPr>
          <p:cNvPr id="160" name="Image 28" descr="icon_activity.png"/>
          <p:cNvPicPr>
            <a:picLocks noChangeAspect="1"/>
          </p:cNvPicPr>
          <p:nvPr/>
        </p:nvPicPr>
        <p:blipFill>
          <a:blip r:embed="rId24"/>
          <a:stretch>
            <a:fillRect/>
          </a:stretch>
        </p:blipFill>
        <p:spPr>
          <a:xfrm>
            <a:off x="4582607" y="15445679"/>
            <a:ext cx="216530" cy="216530"/>
          </a:xfrm>
          <a:prstGeom prst="rect">
            <a:avLst/>
          </a:prstGeom>
        </p:spPr>
      </p:pic>
      <p:sp>
        <p:nvSpPr>
          <p:cNvPr id="161" name="Text 130"/>
          <p:cNvSpPr/>
          <p:nvPr/>
        </p:nvSpPr>
        <p:spPr>
          <a:xfrm>
            <a:off x="4799136" y="15389225"/>
            <a:ext cx="1336487" cy="375031"/>
          </a:xfrm>
          <a:prstGeom prst="rect">
            <a:avLst/>
          </a:prstGeom>
          <a:noFill/>
          <a:ln/>
        </p:spPr>
        <p:txBody>
          <a:bodyPr wrap="square" lIns="0" tIns="0" rIns="0" bIns="0" rtlCol="0" anchor="ctr"/>
          <a:lstStyle/>
          <a:p>
            <a:pPr marL="0" indent="0" algn="ctr">
              <a:buNone/>
            </a:pPr>
            <a:r>
              <a:rPr lang="en-US" sz="900" b="1" kern="0" spc="50" dirty="0">
                <a:solidFill>
                  <a:srgbClr val="60707F"/>
                </a:solidFill>
                <a:latin typeface="Times New Roman" panose="02020603050405020304" pitchFamily="18" charset="0"/>
                <a:ea typeface="Calibri" pitchFamily="34" charset="-122"/>
                <a:cs typeface="Times New Roman" panose="02020603050405020304" pitchFamily="18" charset="0"/>
              </a:rPr>
              <a:t>SERIOUS INJURY</a:t>
            </a:r>
            <a:endParaRPr lang="en-US" sz="900" dirty="0">
              <a:latin typeface="Times New Roman" panose="02020603050405020304" pitchFamily="18" charset="0"/>
              <a:cs typeface="Times New Roman" panose="02020603050405020304" pitchFamily="18" charset="0"/>
            </a:endParaRPr>
          </a:p>
        </p:txBody>
      </p:sp>
      <p:sp>
        <p:nvSpPr>
          <p:cNvPr id="162" name="Text 131"/>
          <p:cNvSpPr/>
          <p:nvPr/>
        </p:nvSpPr>
        <p:spPr>
          <a:xfrm>
            <a:off x="4471416" y="15755112"/>
            <a:ext cx="1664208" cy="475488"/>
          </a:xfrm>
          <a:prstGeom prst="rect">
            <a:avLst/>
          </a:prstGeom>
          <a:noFill/>
          <a:ln/>
        </p:spPr>
        <p:txBody>
          <a:bodyPr wrap="square" lIns="0" tIns="0" rIns="0" bIns="0" rtlCol="0" anchor="t"/>
          <a:lstStyle/>
          <a:p>
            <a:pPr marL="0" indent="0" algn="ctr">
              <a:buNone/>
            </a:pPr>
            <a:r>
              <a:rPr lang="en-US" sz="1500" b="1" dirty="0">
                <a:solidFill>
                  <a:srgbClr val="0F2A47"/>
                </a:solidFill>
                <a:latin typeface="Times New Roman" panose="02020603050405020304" pitchFamily="18" charset="0"/>
                <a:ea typeface="Calibri" pitchFamily="34" charset="-122"/>
                <a:cs typeface="Times New Roman" panose="02020603050405020304" pitchFamily="18" charset="0"/>
              </a:rPr>
              <a:t>33.7%</a:t>
            </a:r>
            <a:endParaRPr lang="en-US" sz="1500" dirty="0">
              <a:latin typeface="Times New Roman" panose="02020603050405020304" pitchFamily="18" charset="0"/>
              <a:cs typeface="Times New Roman" panose="02020603050405020304" pitchFamily="18" charset="0"/>
            </a:endParaRPr>
          </a:p>
        </p:txBody>
      </p:sp>
      <p:sp>
        <p:nvSpPr>
          <p:cNvPr id="163" name="Shape 132"/>
          <p:cNvSpPr/>
          <p:nvPr/>
        </p:nvSpPr>
        <p:spPr>
          <a:xfrm>
            <a:off x="6391656" y="15288768"/>
            <a:ext cx="1810512" cy="804672"/>
          </a:xfrm>
          <a:prstGeom prst="roundRect">
            <a:avLst>
              <a:gd name="adj" fmla="val 102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164" name="Shape 133"/>
          <p:cNvSpPr/>
          <p:nvPr/>
        </p:nvSpPr>
        <p:spPr>
          <a:xfrm>
            <a:off x="6537960" y="15407640"/>
            <a:ext cx="292608" cy="292608"/>
          </a:xfrm>
          <a:prstGeom prst="ellipse">
            <a:avLst/>
          </a:prstGeom>
          <a:solidFill>
            <a:srgbClr val="FDF1E2"/>
          </a:solidFill>
          <a:ln/>
        </p:spPr>
      </p:sp>
      <p:pic>
        <p:nvPicPr>
          <p:cNvPr id="165" name="Image 29" descr="icon_clock.png"/>
          <p:cNvPicPr>
            <a:picLocks noChangeAspect="1"/>
          </p:cNvPicPr>
          <p:nvPr/>
        </p:nvPicPr>
        <p:blipFill>
          <a:blip r:embed="rId18"/>
          <a:stretch>
            <a:fillRect/>
          </a:stretch>
        </p:blipFill>
        <p:spPr>
          <a:xfrm>
            <a:off x="6575999" y="15445679"/>
            <a:ext cx="216530" cy="216530"/>
          </a:xfrm>
          <a:prstGeom prst="rect">
            <a:avLst/>
          </a:prstGeom>
        </p:spPr>
      </p:pic>
      <p:sp>
        <p:nvSpPr>
          <p:cNvPr id="166" name="Text 134"/>
          <p:cNvSpPr/>
          <p:nvPr/>
        </p:nvSpPr>
        <p:spPr>
          <a:xfrm>
            <a:off x="6464808" y="15389224"/>
            <a:ext cx="1664208" cy="375031"/>
          </a:xfrm>
          <a:prstGeom prst="rect">
            <a:avLst/>
          </a:prstGeom>
          <a:noFill/>
          <a:ln/>
        </p:spPr>
        <p:txBody>
          <a:bodyPr wrap="square" lIns="0" tIns="0" rIns="0" bIns="0" rtlCol="0" anchor="ctr"/>
          <a:lstStyle/>
          <a:p>
            <a:pPr marL="0" indent="0" algn="ctr">
              <a:buNone/>
            </a:pPr>
            <a:r>
              <a:rPr lang="en-US" sz="900" b="1" kern="0" spc="50" dirty="0">
                <a:solidFill>
                  <a:srgbClr val="60707F"/>
                </a:solidFill>
                <a:latin typeface="Times New Roman" panose="02020603050405020304" pitchFamily="18" charset="0"/>
                <a:ea typeface="Calibri" pitchFamily="34" charset="-122"/>
                <a:cs typeface="Times New Roman" panose="02020603050405020304" pitchFamily="18" charset="0"/>
              </a:rPr>
              <a:t>PEAK HOUR</a:t>
            </a:r>
            <a:endParaRPr lang="en-US" sz="900" dirty="0">
              <a:latin typeface="Times New Roman" panose="02020603050405020304" pitchFamily="18" charset="0"/>
              <a:cs typeface="Times New Roman" panose="02020603050405020304" pitchFamily="18" charset="0"/>
            </a:endParaRPr>
          </a:p>
        </p:txBody>
      </p:sp>
      <p:sp>
        <p:nvSpPr>
          <p:cNvPr id="167" name="Text 135"/>
          <p:cNvSpPr/>
          <p:nvPr/>
        </p:nvSpPr>
        <p:spPr>
          <a:xfrm>
            <a:off x="6464808" y="15755112"/>
            <a:ext cx="1664208" cy="475488"/>
          </a:xfrm>
          <a:prstGeom prst="rect">
            <a:avLst/>
          </a:prstGeom>
          <a:noFill/>
          <a:ln/>
        </p:spPr>
        <p:txBody>
          <a:bodyPr wrap="square" lIns="0" tIns="0" rIns="0" bIns="0" rtlCol="0" anchor="t"/>
          <a:lstStyle/>
          <a:p>
            <a:pPr marL="0" indent="0" algn="ctr">
              <a:buNone/>
            </a:pPr>
            <a:r>
              <a:rPr lang="en-US" sz="1500" b="1" dirty="0">
                <a:solidFill>
                  <a:srgbClr val="0F2A47"/>
                </a:solidFill>
                <a:latin typeface="Times New Roman" panose="02020603050405020304" pitchFamily="18" charset="0"/>
                <a:ea typeface="Calibri" pitchFamily="34" charset="-122"/>
                <a:cs typeface="Times New Roman" panose="02020603050405020304" pitchFamily="18" charset="0"/>
              </a:rPr>
              <a:t>6 PM</a:t>
            </a:r>
            <a:endParaRPr lang="en-US" sz="1500" dirty="0">
              <a:latin typeface="Times New Roman" panose="02020603050405020304" pitchFamily="18" charset="0"/>
              <a:cs typeface="Times New Roman" panose="02020603050405020304" pitchFamily="18" charset="0"/>
            </a:endParaRPr>
          </a:p>
        </p:txBody>
      </p:sp>
      <p:sp>
        <p:nvSpPr>
          <p:cNvPr id="168" name="Shape 136"/>
          <p:cNvSpPr/>
          <p:nvPr/>
        </p:nvSpPr>
        <p:spPr>
          <a:xfrm>
            <a:off x="8385048" y="15288768"/>
            <a:ext cx="1810512" cy="804672"/>
          </a:xfrm>
          <a:prstGeom prst="roundRect">
            <a:avLst>
              <a:gd name="adj" fmla="val 10227"/>
            </a:avLst>
          </a:prstGeom>
          <a:solidFill>
            <a:srgbClr val="F8FBFE"/>
          </a:solidFill>
          <a:ln w="9525">
            <a:solidFill>
              <a:srgbClr val="E4EAF1"/>
            </a:solidFill>
            <a:prstDash val="solid"/>
          </a:ln>
          <a:effectLst>
            <a:outerShdw blurRad="101600" dist="38100" dir="5400000" algn="bl" rotWithShape="0">
              <a:srgbClr val="0A1F35">
                <a:alpha val="18000"/>
              </a:srgbClr>
            </a:outerShdw>
          </a:effectLst>
        </p:spPr>
      </p:sp>
      <p:sp>
        <p:nvSpPr>
          <p:cNvPr id="169" name="Shape 137"/>
          <p:cNvSpPr/>
          <p:nvPr/>
        </p:nvSpPr>
        <p:spPr>
          <a:xfrm>
            <a:off x="8531352" y="15407640"/>
            <a:ext cx="292608" cy="292608"/>
          </a:xfrm>
          <a:prstGeom prst="ellipse">
            <a:avLst/>
          </a:prstGeom>
          <a:solidFill>
            <a:srgbClr val="FDF1E2"/>
          </a:solidFill>
          <a:ln/>
        </p:spPr>
      </p:sp>
      <p:pic>
        <p:nvPicPr>
          <p:cNvPr id="170" name="Image 30" descr="icon_weather.png"/>
          <p:cNvPicPr>
            <a:picLocks noChangeAspect="1"/>
          </p:cNvPicPr>
          <p:nvPr/>
        </p:nvPicPr>
        <p:blipFill>
          <a:blip r:embed="rId19"/>
          <a:stretch>
            <a:fillRect/>
          </a:stretch>
        </p:blipFill>
        <p:spPr>
          <a:xfrm>
            <a:off x="8569391" y="15445679"/>
            <a:ext cx="216530" cy="216530"/>
          </a:xfrm>
          <a:prstGeom prst="rect">
            <a:avLst/>
          </a:prstGeom>
        </p:spPr>
      </p:pic>
      <p:sp>
        <p:nvSpPr>
          <p:cNvPr id="171" name="Text 138"/>
          <p:cNvSpPr/>
          <p:nvPr/>
        </p:nvSpPr>
        <p:spPr>
          <a:xfrm>
            <a:off x="8755380" y="15288768"/>
            <a:ext cx="1367028" cy="475488"/>
          </a:xfrm>
          <a:prstGeom prst="rect">
            <a:avLst/>
          </a:prstGeom>
          <a:noFill/>
          <a:ln/>
        </p:spPr>
        <p:txBody>
          <a:bodyPr wrap="square" lIns="0" tIns="0" rIns="0" bIns="0" rtlCol="0" anchor="ctr"/>
          <a:lstStyle/>
          <a:p>
            <a:pPr marL="0" indent="0" algn="ctr">
              <a:buNone/>
            </a:pPr>
            <a:r>
              <a:rPr lang="en-US" sz="900" b="1" kern="0" spc="50" dirty="0">
                <a:solidFill>
                  <a:srgbClr val="60707F"/>
                </a:solidFill>
                <a:latin typeface="Times New Roman" panose="02020603050405020304" pitchFamily="18" charset="0"/>
                <a:ea typeface="Calibri" pitchFamily="34" charset="-122"/>
                <a:cs typeface="Times New Roman" panose="02020603050405020304" pitchFamily="18" charset="0"/>
              </a:rPr>
              <a:t>TOP RISK FACTOR</a:t>
            </a:r>
            <a:endParaRPr lang="en-US" sz="900" dirty="0">
              <a:latin typeface="Times New Roman" panose="02020603050405020304" pitchFamily="18" charset="0"/>
              <a:cs typeface="Times New Roman" panose="02020603050405020304" pitchFamily="18" charset="0"/>
            </a:endParaRPr>
          </a:p>
        </p:txBody>
      </p:sp>
      <p:sp>
        <p:nvSpPr>
          <p:cNvPr id="172" name="Text 139"/>
          <p:cNvSpPr/>
          <p:nvPr/>
        </p:nvSpPr>
        <p:spPr>
          <a:xfrm>
            <a:off x="8458200" y="15755112"/>
            <a:ext cx="1664208" cy="475488"/>
          </a:xfrm>
          <a:prstGeom prst="rect">
            <a:avLst/>
          </a:prstGeom>
          <a:noFill/>
          <a:ln/>
        </p:spPr>
        <p:txBody>
          <a:bodyPr wrap="square" lIns="0" tIns="0" rIns="0" bIns="0" rtlCol="0" anchor="t"/>
          <a:lstStyle/>
          <a:p>
            <a:pPr marL="0" indent="0" algn="ctr">
              <a:buNone/>
            </a:pPr>
            <a:r>
              <a:rPr lang="en-US" sz="1500" b="1" dirty="0">
                <a:solidFill>
                  <a:srgbClr val="0F2A47"/>
                </a:solidFill>
                <a:latin typeface="Times New Roman" panose="02020603050405020304" pitchFamily="18" charset="0"/>
                <a:ea typeface="Calibri" pitchFamily="34" charset="-122"/>
                <a:cs typeface="Times New Roman" panose="02020603050405020304" pitchFamily="18" charset="0"/>
              </a:rPr>
              <a:t>Rain / Fog</a:t>
            </a:r>
            <a:endParaRPr lang="en-US" sz="1500" dirty="0">
              <a:latin typeface="Times New Roman" panose="02020603050405020304" pitchFamily="18" charset="0"/>
              <a:cs typeface="Times New Roman" panose="02020603050405020304" pitchFamily="18" charset="0"/>
            </a:endParaRPr>
          </a:p>
        </p:txBody>
      </p:sp>
      <p:sp>
        <p:nvSpPr>
          <p:cNvPr id="173" name="Text 140"/>
          <p:cNvSpPr/>
          <p:nvPr/>
        </p:nvSpPr>
        <p:spPr>
          <a:xfrm>
            <a:off x="411480" y="16349472"/>
            <a:ext cx="4754880" cy="320040"/>
          </a:xfrm>
          <a:prstGeom prst="rect">
            <a:avLst/>
          </a:prstGeom>
          <a:noFill/>
          <a:ln/>
        </p:spPr>
        <p:txBody>
          <a:bodyPr wrap="square" lIns="0" tIns="0" rIns="0" bIns="0" rtlCol="0" anchor="ctr"/>
          <a:lstStyle/>
          <a:p>
            <a:pPr marL="0" indent="0" algn="ctr">
              <a:buNone/>
            </a:pPr>
            <a:r>
              <a:rPr lang="en-US" sz="1300" b="1" dirty="0">
                <a:solidFill>
                  <a:srgbClr val="0F2A47"/>
                </a:solidFill>
                <a:latin typeface="Cambria" pitchFamily="34" charset="0"/>
                <a:ea typeface="Cambria" pitchFamily="34" charset="-122"/>
                <a:cs typeface="Cambria" pitchFamily="34" charset="-120"/>
              </a:rPr>
              <a:t>Accidents by Hour of Day</a:t>
            </a:r>
            <a:endParaRPr lang="en-US" sz="1300" dirty="0"/>
          </a:p>
        </p:txBody>
      </p:sp>
      <p:sp>
        <p:nvSpPr>
          <p:cNvPr id="174" name="Shape 141"/>
          <p:cNvSpPr/>
          <p:nvPr/>
        </p:nvSpPr>
        <p:spPr>
          <a:xfrm>
            <a:off x="411480" y="16696944"/>
            <a:ext cx="4754880" cy="2532888"/>
          </a:xfrm>
          <a:prstGeom prst="roundRect">
            <a:avLst>
              <a:gd name="adj" fmla="val 3249"/>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pic>
        <p:nvPicPr>
          <p:cNvPr id="175" name="Image 31" descr="chart.png"/>
          <p:cNvPicPr>
            <a:picLocks noChangeAspect="1"/>
          </p:cNvPicPr>
          <p:nvPr/>
        </p:nvPicPr>
        <p:blipFill>
          <a:blip r:embed="rId25"/>
          <a:stretch>
            <a:fillRect/>
          </a:stretch>
        </p:blipFill>
        <p:spPr>
          <a:xfrm>
            <a:off x="530352" y="16770096"/>
            <a:ext cx="4517136" cy="2377440"/>
          </a:xfrm>
          <a:prstGeom prst="rect">
            <a:avLst/>
          </a:prstGeom>
        </p:spPr>
      </p:pic>
      <p:sp>
        <p:nvSpPr>
          <p:cNvPr id="176" name="Text 142"/>
          <p:cNvSpPr/>
          <p:nvPr/>
        </p:nvSpPr>
        <p:spPr>
          <a:xfrm>
            <a:off x="5440680" y="16349472"/>
            <a:ext cx="4754880" cy="320040"/>
          </a:xfrm>
          <a:prstGeom prst="rect">
            <a:avLst/>
          </a:prstGeom>
          <a:noFill/>
          <a:ln/>
        </p:spPr>
        <p:txBody>
          <a:bodyPr wrap="square" lIns="0" tIns="0" rIns="0" bIns="0" rtlCol="0" anchor="ctr"/>
          <a:lstStyle/>
          <a:p>
            <a:pPr marL="0" indent="0" algn="ctr">
              <a:buNone/>
            </a:pPr>
            <a:r>
              <a:rPr lang="en-US" sz="1300" b="1" dirty="0">
                <a:solidFill>
                  <a:srgbClr val="0F2A47"/>
                </a:solidFill>
                <a:latin typeface="Cambria" pitchFamily="34" charset="0"/>
                <a:ea typeface="Cambria" pitchFamily="34" charset="-122"/>
                <a:cs typeface="Cambria" pitchFamily="34" charset="-120"/>
              </a:rPr>
              <a:t>Accidents by Weather Condition</a:t>
            </a:r>
            <a:endParaRPr lang="en-US" sz="1300" dirty="0"/>
          </a:p>
        </p:txBody>
      </p:sp>
      <p:sp>
        <p:nvSpPr>
          <p:cNvPr id="177" name="Shape 143"/>
          <p:cNvSpPr/>
          <p:nvPr/>
        </p:nvSpPr>
        <p:spPr>
          <a:xfrm>
            <a:off x="5440680" y="16696944"/>
            <a:ext cx="4754880" cy="2532888"/>
          </a:xfrm>
          <a:prstGeom prst="roundRect">
            <a:avLst>
              <a:gd name="adj" fmla="val 3249"/>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pic>
        <p:nvPicPr>
          <p:cNvPr id="178" name="Image 32" descr="chart_weather.png"/>
          <p:cNvPicPr>
            <a:picLocks noChangeAspect="1"/>
          </p:cNvPicPr>
          <p:nvPr/>
        </p:nvPicPr>
        <p:blipFill>
          <a:blip r:embed="rId26"/>
          <a:stretch>
            <a:fillRect/>
          </a:stretch>
        </p:blipFill>
        <p:spPr>
          <a:xfrm>
            <a:off x="5559552" y="16770096"/>
            <a:ext cx="4517136" cy="2377440"/>
          </a:xfrm>
          <a:prstGeom prst="rect">
            <a:avLst/>
          </a:prstGeom>
        </p:spPr>
      </p:pic>
      <p:sp>
        <p:nvSpPr>
          <p:cNvPr id="179" name="Shape 144"/>
          <p:cNvSpPr/>
          <p:nvPr/>
        </p:nvSpPr>
        <p:spPr>
          <a:xfrm>
            <a:off x="411480" y="19485864"/>
            <a:ext cx="4754880" cy="1691640"/>
          </a:xfrm>
          <a:prstGeom prst="roundRect">
            <a:avLst>
              <a:gd name="adj" fmla="val 4865"/>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sp>
        <p:nvSpPr>
          <p:cNvPr id="180" name="Shape 145"/>
          <p:cNvSpPr/>
          <p:nvPr/>
        </p:nvSpPr>
        <p:spPr>
          <a:xfrm>
            <a:off x="621792" y="19650456"/>
            <a:ext cx="365760" cy="365760"/>
          </a:xfrm>
          <a:prstGeom prst="ellipse">
            <a:avLst/>
          </a:prstGeom>
          <a:solidFill>
            <a:srgbClr val="FDF1E2"/>
          </a:solidFill>
          <a:ln/>
        </p:spPr>
      </p:sp>
      <p:pic>
        <p:nvPicPr>
          <p:cNvPr id="181" name="Image 33" descr="icon_chart.png"/>
          <p:cNvPicPr>
            <a:picLocks noChangeAspect="1"/>
          </p:cNvPicPr>
          <p:nvPr/>
        </p:nvPicPr>
        <p:blipFill>
          <a:blip r:embed="rId22"/>
          <a:stretch>
            <a:fillRect/>
          </a:stretch>
        </p:blipFill>
        <p:spPr>
          <a:xfrm>
            <a:off x="669341" y="19698005"/>
            <a:ext cx="270662" cy="270662"/>
          </a:xfrm>
          <a:prstGeom prst="rect">
            <a:avLst/>
          </a:prstGeom>
        </p:spPr>
      </p:pic>
      <p:sp>
        <p:nvSpPr>
          <p:cNvPr id="182" name="Text 146"/>
          <p:cNvSpPr/>
          <p:nvPr/>
        </p:nvSpPr>
        <p:spPr>
          <a:xfrm>
            <a:off x="1097280" y="19650456"/>
            <a:ext cx="3200400" cy="365760"/>
          </a:xfrm>
          <a:prstGeom prst="rect">
            <a:avLst/>
          </a:prstGeom>
          <a:noFill/>
          <a:ln/>
        </p:spPr>
        <p:txBody>
          <a:bodyPr wrap="square" lIns="0" tIns="0" rIns="0" bIns="0" rtlCol="0" anchor="ctr"/>
          <a:lstStyle/>
          <a:p>
            <a:pPr marL="0" indent="0" algn="l">
              <a:buNone/>
            </a:pPr>
            <a:r>
              <a:rPr lang="en-US" sz="1200" b="1" dirty="0">
                <a:solidFill>
                  <a:srgbClr val="E28B26"/>
                </a:solidFill>
                <a:latin typeface="Times New Roman" panose="02020603050405020304" pitchFamily="18" charset="0"/>
                <a:ea typeface="Calibri" pitchFamily="34" charset="-122"/>
                <a:cs typeface="Times New Roman" panose="02020603050405020304" pitchFamily="18" charset="0"/>
              </a:rPr>
              <a:t>STATISTICAL RESULTS</a:t>
            </a:r>
            <a:endParaRPr lang="en-US" sz="1200" dirty="0">
              <a:latin typeface="Times New Roman" panose="02020603050405020304" pitchFamily="18" charset="0"/>
              <a:cs typeface="Times New Roman" panose="02020603050405020304" pitchFamily="18" charset="0"/>
            </a:endParaRPr>
          </a:p>
        </p:txBody>
      </p:sp>
      <p:sp>
        <p:nvSpPr>
          <p:cNvPr id="183" name="Text 147"/>
          <p:cNvSpPr/>
          <p:nvPr/>
        </p:nvSpPr>
        <p:spPr>
          <a:xfrm>
            <a:off x="621792" y="20107656"/>
            <a:ext cx="4343400" cy="960120"/>
          </a:xfrm>
          <a:prstGeom prst="rect">
            <a:avLst/>
          </a:prstGeom>
          <a:noFill/>
          <a:ln/>
        </p:spPr>
        <p:txBody>
          <a:bodyPr wrap="square" lIns="0" tIns="0" rIns="0" bIns="0" rtlCol="0" anchor="t"/>
          <a:lstStyle/>
          <a:p>
            <a:pPr marL="0" indent="0" algn="l">
              <a:lnSpc>
                <a:spcPct val="135000"/>
              </a:lnSpc>
              <a:buNone/>
            </a:pPr>
            <a:r>
              <a:rPr lang="en-US" sz="1050" dirty="0">
                <a:solidFill>
                  <a:srgbClr val="1E2A38"/>
                </a:solidFill>
                <a:latin typeface="Times New Roman" panose="02020603050405020304" pitchFamily="18" charset="0"/>
                <a:ea typeface="Calibri" pitchFamily="34" charset="-122"/>
                <a:cs typeface="Times New Roman" panose="02020603050405020304" pitchFamily="18" charset="0"/>
              </a:rPr>
              <a:t>Total accidents: 12,314</a:t>
            </a:r>
            <a:endParaRPr lang="en-US" sz="1050" dirty="0">
              <a:latin typeface="Times New Roman" panose="02020603050405020304" pitchFamily="18" charset="0"/>
              <a:cs typeface="Times New Roman" panose="02020603050405020304" pitchFamily="18" charset="0"/>
            </a:endParaRPr>
          </a:p>
          <a:p>
            <a:pPr marL="0" indent="0" algn="l">
              <a:lnSpc>
                <a:spcPct val="135000"/>
              </a:lnSpc>
              <a:buNone/>
            </a:pPr>
            <a:r>
              <a:rPr lang="en-US" sz="1050" dirty="0">
                <a:solidFill>
                  <a:srgbClr val="1E2A38"/>
                </a:solidFill>
                <a:latin typeface="Times New Roman" panose="02020603050405020304" pitchFamily="18" charset="0"/>
                <a:ea typeface="Calibri" pitchFamily="34" charset="-122"/>
                <a:cs typeface="Times New Roman" panose="02020603050405020304" pitchFamily="18" charset="0"/>
              </a:rPr>
              <a:t>Fatal: 1,847 (15.0%)   •   Serious injury: 4,150 (33.7%)   •   Minor injury: 6,317 (51.3%)</a:t>
            </a:r>
            <a:endParaRPr lang="en-US" sz="1050" dirty="0">
              <a:latin typeface="Times New Roman" panose="02020603050405020304" pitchFamily="18" charset="0"/>
              <a:cs typeface="Times New Roman" panose="02020603050405020304" pitchFamily="18" charset="0"/>
            </a:endParaRPr>
          </a:p>
          <a:p>
            <a:pPr marL="0" indent="0" algn="l">
              <a:lnSpc>
                <a:spcPct val="135000"/>
              </a:lnSpc>
              <a:buNone/>
            </a:pPr>
            <a:r>
              <a:rPr lang="en-US" sz="1050" dirty="0">
                <a:solidFill>
                  <a:srgbClr val="1E2A38"/>
                </a:solidFill>
                <a:latin typeface="Times New Roman" panose="02020603050405020304" pitchFamily="18" charset="0"/>
                <a:ea typeface="Calibri" pitchFamily="34" charset="-122"/>
                <a:cs typeface="Times New Roman" panose="02020603050405020304" pitchFamily="18" charset="0"/>
              </a:rPr>
              <a:t>Peak accident hour: 6 PM (18:00)      Lowest accident hour: 3 AM (03:00)</a:t>
            </a:r>
            <a:endParaRPr lang="en-US" sz="1050" dirty="0">
              <a:latin typeface="Times New Roman" panose="02020603050405020304" pitchFamily="18" charset="0"/>
              <a:cs typeface="Times New Roman" panose="02020603050405020304" pitchFamily="18" charset="0"/>
            </a:endParaRPr>
          </a:p>
          <a:p>
            <a:pPr marL="0" indent="0" algn="l">
              <a:lnSpc>
                <a:spcPct val="135000"/>
              </a:lnSpc>
              <a:buNone/>
            </a:pPr>
            <a:r>
              <a:rPr lang="en-US" sz="1050" dirty="0">
                <a:solidFill>
                  <a:srgbClr val="1E2A38"/>
                </a:solidFill>
                <a:latin typeface="Times New Roman" panose="02020603050405020304" pitchFamily="18" charset="0"/>
                <a:ea typeface="Calibri" pitchFamily="34" charset="-122"/>
                <a:cs typeface="Times New Roman" panose="02020603050405020304" pitchFamily="18" charset="0"/>
              </a:rPr>
              <a:t>Highest-risk weather: Rain / Fog      Average per day: ~34 accidents</a:t>
            </a:r>
            <a:endParaRPr lang="en-US" sz="1050" dirty="0">
              <a:latin typeface="Times New Roman" panose="02020603050405020304" pitchFamily="18" charset="0"/>
              <a:cs typeface="Times New Roman" panose="02020603050405020304" pitchFamily="18" charset="0"/>
            </a:endParaRPr>
          </a:p>
        </p:txBody>
      </p:sp>
      <p:sp>
        <p:nvSpPr>
          <p:cNvPr id="184" name="Shape 148"/>
          <p:cNvSpPr/>
          <p:nvPr/>
        </p:nvSpPr>
        <p:spPr>
          <a:xfrm>
            <a:off x="5440680" y="19485864"/>
            <a:ext cx="4754880" cy="1691640"/>
          </a:xfrm>
          <a:prstGeom prst="roundRect">
            <a:avLst>
              <a:gd name="adj" fmla="val 4865"/>
            </a:avLst>
          </a:prstGeom>
          <a:solidFill>
            <a:srgbClr val="FFFFFF"/>
          </a:solidFill>
          <a:ln w="9525">
            <a:solidFill>
              <a:srgbClr val="E4EAF1"/>
            </a:solidFill>
            <a:prstDash val="solid"/>
          </a:ln>
          <a:effectLst>
            <a:outerShdw blurRad="101600" dist="38100" dir="5400000" algn="bl" rotWithShape="0">
              <a:srgbClr val="0A1F35">
                <a:alpha val="18000"/>
              </a:srgbClr>
            </a:outerShdw>
          </a:effectLst>
        </p:spPr>
      </p:sp>
      <p:sp>
        <p:nvSpPr>
          <p:cNvPr id="185" name="Shape 149"/>
          <p:cNvSpPr/>
          <p:nvPr/>
        </p:nvSpPr>
        <p:spPr>
          <a:xfrm>
            <a:off x="5650992" y="19650456"/>
            <a:ext cx="365760" cy="365760"/>
          </a:xfrm>
          <a:prstGeom prst="ellipse">
            <a:avLst/>
          </a:prstGeom>
          <a:solidFill>
            <a:srgbClr val="FDF1E2"/>
          </a:solidFill>
          <a:ln/>
        </p:spPr>
      </p:sp>
      <p:pic>
        <p:nvPicPr>
          <p:cNvPr id="186" name="Image 34" descr="icon_lightbulb.png"/>
          <p:cNvPicPr>
            <a:picLocks noChangeAspect="1"/>
          </p:cNvPicPr>
          <p:nvPr/>
        </p:nvPicPr>
        <p:blipFill>
          <a:blip r:embed="rId27"/>
          <a:stretch>
            <a:fillRect/>
          </a:stretch>
        </p:blipFill>
        <p:spPr>
          <a:xfrm>
            <a:off x="5698541" y="19698005"/>
            <a:ext cx="270662" cy="270662"/>
          </a:xfrm>
          <a:prstGeom prst="rect">
            <a:avLst/>
          </a:prstGeom>
        </p:spPr>
      </p:pic>
      <p:sp>
        <p:nvSpPr>
          <p:cNvPr id="187" name="Text 150"/>
          <p:cNvSpPr/>
          <p:nvPr/>
        </p:nvSpPr>
        <p:spPr>
          <a:xfrm>
            <a:off x="6126480" y="19650456"/>
            <a:ext cx="3200400" cy="365760"/>
          </a:xfrm>
          <a:prstGeom prst="rect">
            <a:avLst/>
          </a:prstGeom>
          <a:noFill/>
          <a:ln/>
        </p:spPr>
        <p:txBody>
          <a:bodyPr wrap="square" lIns="0" tIns="0" rIns="0" bIns="0" rtlCol="0" anchor="ctr"/>
          <a:lstStyle/>
          <a:p>
            <a:pPr marL="0" indent="0" algn="l">
              <a:buNone/>
            </a:pPr>
            <a:r>
              <a:rPr lang="en-US" sz="1200" b="1" dirty="0">
                <a:solidFill>
                  <a:srgbClr val="E28B26"/>
                </a:solidFill>
                <a:latin typeface="Times New Roman" panose="02020603050405020304" pitchFamily="18" charset="0"/>
                <a:ea typeface="Calibri" pitchFamily="34" charset="-122"/>
                <a:cs typeface="Times New Roman" panose="02020603050405020304" pitchFamily="18" charset="0"/>
              </a:rPr>
              <a:t>KEY</a:t>
            </a:r>
            <a:r>
              <a:rPr lang="en-US" sz="1200" b="1" dirty="0">
                <a:solidFill>
                  <a:srgbClr val="E28B26"/>
                </a:solidFill>
                <a:latin typeface="Calibri" pitchFamily="34" charset="0"/>
                <a:ea typeface="Calibri" pitchFamily="34" charset="-122"/>
                <a:cs typeface="Calibri" pitchFamily="34" charset="-120"/>
              </a:rPr>
              <a:t> </a:t>
            </a:r>
            <a:r>
              <a:rPr lang="en-US" sz="1200" b="1" dirty="0">
                <a:solidFill>
                  <a:srgbClr val="E28B26"/>
                </a:solidFill>
                <a:latin typeface="Times New Roman" panose="02020603050405020304" pitchFamily="18" charset="0"/>
                <a:ea typeface="Calibri" pitchFamily="34" charset="-122"/>
                <a:cs typeface="Times New Roman" panose="02020603050405020304" pitchFamily="18" charset="0"/>
              </a:rPr>
              <a:t>OBSERVATIONS</a:t>
            </a:r>
            <a:endParaRPr lang="en-US" sz="1200" dirty="0">
              <a:latin typeface="Times New Roman" panose="02020603050405020304" pitchFamily="18" charset="0"/>
              <a:cs typeface="Times New Roman" panose="02020603050405020304" pitchFamily="18" charset="0"/>
            </a:endParaRPr>
          </a:p>
        </p:txBody>
      </p:sp>
      <p:sp>
        <p:nvSpPr>
          <p:cNvPr id="188" name="Text 151"/>
          <p:cNvSpPr/>
          <p:nvPr/>
        </p:nvSpPr>
        <p:spPr>
          <a:xfrm>
            <a:off x="5650992" y="20107656"/>
            <a:ext cx="4343400" cy="960120"/>
          </a:xfrm>
          <a:prstGeom prst="rect">
            <a:avLst/>
          </a:prstGeom>
          <a:noFill/>
          <a:ln/>
        </p:spPr>
        <p:txBody>
          <a:bodyPr wrap="square" lIns="0" tIns="0" rIns="0" bIns="0" rtlCol="0" anchor="t"/>
          <a:lstStyle/>
          <a:p>
            <a:pPr marL="0" indent="0" algn="l">
              <a:lnSpc>
                <a:spcPct val="122000"/>
              </a:lnSpc>
              <a:buNone/>
            </a:pPr>
            <a:r>
              <a:rPr lang="en-US" sz="1100" dirty="0">
                <a:solidFill>
                  <a:srgbClr val="1E2A38"/>
                </a:solidFill>
                <a:latin typeface="Times New Roman" panose="02020603050405020304" pitchFamily="18" charset="0"/>
                <a:ea typeface="Calibri" pitchFamily="34" charset="-122"/>
                <a:cs typeface="Times New Roman" panose="02020603050405020304" pitchFamily="18" charset="0"/>
              </a:rPr>
              <a:t>Urban roads carry 58% of accidents; highways account for 42% but record the highest fatality rate per accident. Evening rush hour and adverse weather compound risk — rain combined with peak traffic shows the sharpest spike in severity. Junctions without signals contribute a disproportionate share of urban collisions</a:t>
            </a:r>
            <a:r>
              <a:rPr lang="en-US" sz="960" dirty="0">
                <a:solidFill>
                  <a:srgbClr val="1E2A38"/>
                </a:solidFill>
                <a:latin typeface="Calibri" pitchFamily="34" charset="0"/>
                <a:ea typeface="Calibri" pitchFamily="34" charset="-122"/>
                <a:cs typeface="Calibri" pitchFamily="34" charset="-120"/>
              </a:rPr>
              <a:t>.</a:t>
            </a:r>
            <a:endParaRPr lang="en-US" sz="960" dirty="0"/>
          </a:p>
        </p:txBody>
      </p:sp>
      <p:sp>
        <p:nvSpPr>
          <p:cNvPr id="189" name="Shape 152"/>
          <p:cNvSpPr/>
          <p:nvPr/>
        </p:nvSpPr>
        <p:spPr>
          <a:xfrm>
            <a:off x="320040" y="21470112"/>
            <a:ext cx="10049256" cy="475488"/>
          </a:xfrm>
          <a:prstGeom prst="roundRect">
            <a:avLst>
              <a:gd name="adj" fmla="val 13462"/>
            </a:avLst>
          </a:prstGeom>
          <a:solidFill>
            <a:schemeClr val="accent5">
              <a:lumMod val="50000"/>
            </a:schemeClr>
          </a:solidFill>
          <a:ln/>
          <a:effectLst>
            <a:outerShdw blurRad="101600" dist="38100" dir="5400000" algn="bl" rotWithShape="0">
              <a:srgbClr val="0A1F35">
                <a:alpha val="18000"/>
              </a:srgbClr>
            </a:outerShdw>
          </a:effectLst>
        </p:spPr>
      </p:sp>
      <p:sp>
        <p:nvSpPr>
          <p:cNvPr id="190" name="Shape 153"/>
          <p:cNvSpPr/>
          <p:nvPr/>
        </p:nvSpPr>
        <p:spPr>
          <a:xfrm>
            <a:off x="457200" y="21552408"/>
            <a:ext cx="310896" cy="310896"/>
          </a:xfrm>
          <a:prstGeom prst="ellipse">
            <a:avLst/>
          </a:prstGeom>
          <a:solidFill>
            <a:srgbClr val="E28B26"/>
          </a:solidFill>
          <a:ln/>
        </p:spPr>
      </p:sp>
      <p:sp>
        <p:nvSpPr>
          <p:cNvPr id="191" name="Text 154"/>
          <p:cNvSpPr/>
          <p:nvPr/>
        </p:nvSpPr>
        <p:spPr>
          <a:xfrm>
            <a:off x="457200" y="21552408"/>
            <a:ext cx="310896" cy="310896"/>
          </a:xfrm>
          <a:prstGeom prst="rect">
            <a:avLst/>
          </a:prstGeom>
          <a:noFill/>
          <a:ln/>
        </p:spPr>
        <p:txBody>
          <a:bodyPr wrap="square" lIns="0" tIns="0" rIns="0" bIns="0" rtlCol="0" anchor="ctr"/>
          <a:lstStyle/>
          <a:p>
            <a:pPr marL="0" indent="0" algn="ctr">
              <a:buNone/>
            </a:pPr>
            <a:r>
              <a:rPr lang="en-US" sz="1400" b="1" dirty="0">
                <a:solidFill>
                  <a:srgbClr val="0F2A47"/>
                </a:solidFill>
                <a:latin typeface="Calibri" pitchFamily="34" charset="0"/>
                <a:ea typeface="Calibri" pitchFamily="34" charset="-122"/>
                <a:cs typeface="Calibri" pitchFamily="34" charset="-120"/>
              </a:rPr>
              <a:t>6</a:t>
            </a:r>
            <a:endParaRPr lang="en-US" sz="1400" dirty="0"/>
          </a:p>
        </p:txBody>
      </p:sp>
      <p:pic>
        <p:nvPicPr>
          <p:cNvPr id="192" name="Image 35" descr="icon_flag.png"/>
          <p:cNvPicPr>
            <a:picLocks noChangeAspect="1"/>
          </p:cNvPicPr>
          <p:nvPr/>
        </p:nvPicPr>
        <p:blipFill>
          <a:blip r:embed="rId28"/>
          <a:stretch>
            <a:fillRect/>
          </a:stretch>
        </p:blipFill>
        <p:spPr>
          <a:xfrm>
            <a:off x="896112" y="21570696"/>
            <a:ext cx="274320" cy="274320"/>
          </a:xfrm>
          <a:prstGeom prst="rect">
            <a:avLst/>
          </a:prstGeom>
        </p:spPr>
      </p:pic>
      <p:sp>
        <p:nvSpPr>
          <p:cNvPr id="193" name="Text 155"/>
          <p:cNvSpPr/>
          <p:nvPr/>
        </p:nvSpPr>
        <p:spPr>
          <a:xfrm>
            <a:off x="1261872" y="21470112"/>
            <a:ext cx="8961120" cy="475488"/>
          </a:xfrm>
          <a:prstGeom prst="rect">
            <a:avLst/>
          </a:prstGeom>
          <a:noFill/>
          <a:ln/>
        </p:spPr>
        <p:txBody>
          <a:bodyPr wrap="square" lIns="0" tIns="0" rIns="0" bIns="0" rtlCol="0" anchor="ctr"/>
          <a:lstStyle/>
          <a:p>
            <a:pPr marL="0" indent="0" algn="l">
              <a:buNone/>
            </a:pPr>
            <a:r>
              <a:rPr lang="en-US" sz="1650" b="1" kern="0" spc="50" dirty="0">
                <a:solidFill>
                  <a:srgbClr val="FFFFFF"/>
                </a:solidFill>
                <a:latin typeface="Times New Roman" panose="02020603050405020304" pitchFamily="18" charset="0"/>
                <a:ea typeface="Cambria" pitchFamily="34" charset="-122"/>
                <a:cs typeface="Times New Roman" panose="02020603050405020304" pitchFamily="18" charset="0"/>
              </a:rPr>
              <a:t>CONCLUSION &amp; RECOMMENDATIONS</a:t>
            </a:r>
            <a:endParaRPr lang="en-US" sz="1650" dirty="0">
              <a:latin typeface="Times New Roman" panose="02020603050405020304" pitchFamily="18" charset="0"/>
              <a:cs typeface="Times New Roman" panose="02020603050405020304" pitchFamily="18" charset="0"/>
            </a:endParaRPr>
          </a:p>
        </p:txBody>
      </p:sp>
      <p:sp>
        <p:nvSpPr>
          <p:cNvPr id="194" name="Shape 156"/>
          <p:cNvSpPr/>
          <p:nvPr/>
        </p:nvSpPr>
        <p:spPr>
          <a:xfrm>
            <a:off x="320040" y="22201632"/>
            <a:ext cx="10049256" cy="2148840"/>
          </a:xfrm>
          <a:prstGeom prst="roundRect">
            <a:avLst>
              <a:gd name="adj" fmla="val 3830"/>
            </a:avLst>
          </a:prstGeom>
          <a:solidFill>
            <a:schemeClr val="accent1">
              <a:lumMod val="75000"/>
            </a:schemeClr>
          </a:solidFill>
          <a:ln/>
          <a:effectLst>
            <a:outerShdw blurRad="101600" dist="38100" dir="5400000" algn="bl" rotWithShape="0">
              <a:srgbClr val="0A1F35">
                <a:alpha val="18000"/>
              </a:srgbClr>
            </a:outerShdw>
          </a:effectLst>
        </p:spPr>
        <p:txBody>
          <a:bodyPr/>
          <a:lstStyle/>
          <a:p>
            <a:endParaRPr lang="en-IN" dirty="0"/>
          </a:p>
        </p:txBody>
      </p:sp>
      <p:sp>
        <p:nvSpPr>
          <p:cNvPr id="195" name="Text 157"/>
          <p:cNvSpPr/>
          <p:nvPr/>
        </p:nvSpPr>
        <p:spPr>
          <a:xfrm>
            <a:off x="594360" y="22402800"/>
            <a:ext cx="3566160" cy="292608"/>
          </a:xfrm>
          <a:prstGeom prst="rect">
            <a:avLst/>
          </a:prstGeom>
          <a:noFill/>
          <a:ln/>
        </p:spPr>
        <p:txBody>
          <a:bodyPr wrap="square" lIns="0" tIns="0" rIns="0" bIns="0" rtlCol="0" anchor="ctr"/>
          <a:lstStyle/>
          <a:p>
            <a:pPr marL="0" indent="0" algn="l">
              <a:buNone/>
            </a:pPr>
            <a:r>
              <a:rPr lang="en-US" sz="1150" b="1" kern="0" spc="50" dirty="0">
                <a:solidFill>
                  <a:srgbClr val="E28B26"/>
                </a:solidFill>
                <a:latin typeface="Times New Roman" panose="02020603050405020304" pitchFamily="18" charset="0"/>
                <a:ea typeface="Calibri" pitchFamily="34" charset="-122"/>
                <a:cs typeface="Times New Roman" panose="02020603050405020304" pitchFamily="18" charset="0"/>
              </a:rPr>
              <a:t>CONCLUSION</a:t>
            </a:r>
            <a:endParaRPr lang="en-US" sz="1150" dirty="0">
              <a:latin typeface="Times New Roman" panose="02020603050405020304" pitchFamily="18" charset="0"/>
              <a:cs typeface="Times New Roman" panose="02020603050405020304" pitchFamily="18" charset="0"/>
            </a:endParaRPr>
          </a:p>
        </p:txBody>
      </p:sp>
      <p:sp>
        <p:nvSpPr>
          <p:cNvPr id="196" name="Text 158"/>
          <p:cNvSpPr/>
          <p:nvPr/>
        </p:nvSpPr>
        <p:spPr>
          <a:xfrm>
            <a:off x="594360" y="22731984"/>
            <a:ext cx="3566160" cy="1508760"/>
          </a:xfrm>
          <a:prstGeom prst="rect">
            <a:avLst/>
          </a:prstGeom>
          <a:noFill/>
          <a:ln/>
        </p:spPr>
        <p:txBody>
          <a:bodyPr wrap="square" lIns="0" tIns="0" rIns="0" bIns="0" rtlCol="0" anchor="t"/>
          <a:lstStyle/>
          <a:p>
            <a:pPr marL="0" indent="0" algn="l">
              <a:lnSpc>
                <a:spcPct val="124000"/>
              </a:lnSpc>
              <a:buNone/>
            </a:pPr>
            <a:r>
              <a:rPr lang="en-US" sz="1100" dirty="0">
                <a:solidFill>
                  <a:srgbClr val="D8E5F2"/>
                </a:solidFill>
                <a:latin typeface="Times New Roman" panose="02020603050405020304" pitchFamily="18" charset="0"/>
                <a:ea typeface="Calibri" pitchFamily="34" charset="-122"/>
                <a:cs typeface="Times New Roman" panose="02020603050405020304" pitchFamily="18" charset="0"/>
              </a:rPr>
              <a:t>The analysis of 12,314 road accident records shows that risk is concentrated in specific, identifiable conditions. Evening rush hour, rainy or foggy weather, and highway travel are each linked to a disproportionate share of severe accidents, while unsignalled urban junctions add further risk.</a:t>
            </a:r>
            <a:endParaRPr lang="en-US" sz="1100" dirty="0">
              <a:latin typeface="Times New Roman" panose="02020603050405020304" pitchFamily="18" charset="0"/>
              <a:cs typeface="Times New Roman" panose="02020603050405020304" pitchFamily="18" charset="0"/>
            </a:endParaRPr>
          </a:p>
        </p:txBody>
      </p:sp>
      <p:sp>
        <p:nvSpPr>
          <p:cNvPr id="197" name="Shape 159"/>
          <p:cNvSpPr/>
          <p:nvPr/>
        </p:nvSpPr>
        <p:spPr>
          <a:xfrm>
            <a:off x="4370832" y="22430232"/>
            <a:ext cx="10973" cy="1737360"/>
          </a:xfrm>
          <a:prstGeom prst="rect">
            <a:avLst/>
          </a:prstGeom>
          <a:solidFill>
            <a:srgbClr val="3A5674"/>
          </a:solidFill>
          <a:ln/>
        </p:spPr>
      </p:sp>
      <p:sp>
        <p:nvSpPr>
          <p:cNvPr id="198" name="Text 160"/>
          <p:cNvSpPr/>
          <p:nvPr/>
        </p:nvSpPr>
        <p:spPr>
          <a:xfrm>
            <a:off x="4617720" y="22402800"/>
            <a:ext cx="4572000" cy="292608"/>
          </a:xfrm>
          <a:prstGeom prst="rect">
            <a:avLst/>
          </a:prstGeom>
          <a:noFill/>
          <a:ln/>
        </p:spPr>
        <p:txBody>
          <a:bodyPr wrap="square" lIns="0" tIns="0" rIns="0" bIns="0" rtlCol="0" anchor="ctr"/>
          <a:lstStyle/>
          <a:p>
            <a:pPr marL="0" indent="0" algn="l">
              <a:buNone/>
            </a:pPr>
            <a:r>
              <a:rPr lang="en-US" sz="1150" b="1" kern="0" spc="50" dirty="0">
                <a:solidFill>
                  <a:srgbClr val="E28B26"/>
                </a:solidFill>
                <a:latin typeface="Times New Roman" panose="02020603050405020304" pitchFamily="18" charset="0"/>
                <a:ea typeface="Calibri" pitchFamily="34" charset="-122"/>
                <a:cs typeface="Times New Roman" panose="02020603050405020304" pitchFamily="18" charset="0"/>
              </a:rPr>
              <a:t>RECOMMENDATIONS</a:t>
            </a:r>
            <a:endParaRPr lang="en-US" sz="1150" dirty="0">
              <a:latin typeface="Times New Roman" panose="02020603050405020304" pitchFamily="18" charset="0"/>
              <a:cs typeface="Times New Roman" panose="02020603050405020304" pitchFamily="18" charset="0"/>
            </a:endParaRPr>
          </a:p>
        </p:txBody>
      </p:sp>
      <p:pic>
        <p:nvPicPr>
          <p:cNvPr id="199" name="Image 36" descr="icon_gauge.png"/>
          <p:cNvPicPr>
            <a:picLocks noChangeAspect="1"/>
          </p:cNvPicPr>
          <p:nvPr/>
        </p:nvPicPr>
        <p:blipFill>
          <a:blip r:embed="rId29"/>
          <a:stretch>
            <a:fillRect/>
          </a:stretch>
        </p:blipFill>
        <p:spPr>
          <a:xfrm>
            <a:off x="4617720" y="22795992"/>
            <a:ext cx="237744" cy="237744"/>
          </a:xfrm>
          <a:prstGeom prst="rect">
            <a:avLst/>
          </a:prstGeom>
        </p:spPr>
      </p:pic>
      <p:sp>
        <p:nvSpPr>
          <p:cNvPr id="200" name="Text 161"/>
          <p:cNvSpPr/>
          <p:nvPr/>
        </p:nvSpPr>
        <p:spPr>
          <a:xfrm>
            <a:off x="4946904" y="22768560"/>
            <a:ext cx="2276856" cy="274320"/>
          </a:xfrm>
          <a:prstGeom prst="rect">
            <a:avLst/>
          </a:prstGeom>
          <a:noFill/>
          <a:ln/>
        </p:spPr>
        <p:txBody>
          <a:bodyPr wrap="square" lIns="0" tIns="0" rIns="0" bIns="0" rtlCol="0" anchor="t"/>
          <a:lstStyle/>
          <a:p>
            <a:pPr marL="0" indent="0" algn="l">
              <a:lnSpc>
                <a:spcPct val="105000"/>
              </a:lnSpc>
              <a:buNone/>
            </a:pPr>
            <a:r>
              <a:rPr lang="en-US" sz="960" b="1" dirty="0">
                <a:solidFill>
                  <a:srgbClr val="FFFFFF"/>
                </a:solidFill>
                <a:latin typeface="Times New Roman" panose="02020603050405020304" pitchFamily="18" charset="0"/>
                <a:ea typeface="Calibri" pitchFamily="34" charset="-122"/>
                <a:cs typeface="Times New Roman" panose="02020603050405020304" pitchFamily="18" charset="0"/>
              </a:rPr>
              <a:t>Weather-based speed advisories</a:t>
            </a:r>
            <a:endParaRPr lang="en-US" sz="960" dirty="0">
              <a:latin typeface="Times New Roman" panose="02020603050405020304" pitchFamily="18" charset="0"/>
              <a:cs typeface="Times New Roman" panose="02020603050405020304" pitchFamily="18" charset="0"/>
            </a:endParaRPr>
          </a:p>
        </p:txBody>
      </p:sp>
      <p:sp>
        <p:nvSpPr>
          <p:cNvPr id="201" name="Text 162"/>
          <p:cNvSpPr/>
          <p:nvPr/>
        </p:nvSpPr>
        <p:spPr>
          <a:xfrm>
            <a:off x="4946904" y="23042880"/>
            <a:ext cx="2276856" cy="420624"/>
          </a:xfrm>
          <a:prstGeom prst="rect">
            <a:avLst/>
          </a:prstGeom>
          <a:noFill/>
          <a:ln/>
        </p:spPr>
        <p:txBody>
          <a:bodyPr wrap="square" lIns="0" tIns="0" rIns="0" bIns="0" rtlCol="0" anchor="t"/>
          <a:lstStyle/>
          <a:p>
            <a:pPr marL="0" indent="0" algn="l">
              <a:lnSpc>
                <a:spcPct val="115000"/>
              </a:lnSpc>
              <a:buNone/>
            </a:pPr>
            <a:r>
              <a:rPr lang="en-US" sz="900" dirty="0">
                <a:solidFill>
                  <a:srgbClr val="D8E5F2"/>
                </a:solidFill>
                <a:latin typeface="Times New Roman" panose="02020603050405020304" pitchFamily="18" charset="0"/>
                <a:ea typeface="Calibri" pitchFamily="34" charset="-122"/>
                <a:cs typeface="Times New Roman" panose="02020603050405020304" pitchFamily="18" charset="0"/>
              </a:rPr>
              <a:t>Lower speed limits automatically during rain and fog.</a:t>
            </a:r>
            <a:endParaRPr lang="en-US" sz="900" dirty="0">
              <a:latin typeface="Times New Roman" panose="02020603050405020304" pitchFamily="18" charset="0"/>
              <a:cs typeface="Times New Roman" panose="02020603050405020304" pitchFamily="18" charset="0"/>
            </a:endParaRPr>
          </a:p>
        </p:txBody>
      </p:sp>
      <p:pic>
        <p:nvPicPr>
          <p:cNvPr id="202" name="Image 37" descr="icon_construction.png"/>
          <p:cNvPicPr>
            <a:picLocks noChangeAspect="1"/>
          </p:cNvPicPr>
          <p:nvPr/>
        </p:nvPicPr>
        <p:blipFill>
          <a:blip r:embed="rId30"/>
          <a:stretch>
            <a:fillRect/>
          </a:stretch>
        </p:blipFill>
        <p:spPr>
          <a:xfrm>
            <a:off x="7452360" y="22795992"/>
            <a:ext cx="237744" cy="237744"/>
          </a:xfrm>
          <a:prstGeom prst="rect">
            <a:avLst/>
          </a:prstGeom>
        </p:spPr>
      </p:pic>
      <p:sp>
        <p:nvSpPr>
          <p:cNvPr id="203" name="Text 163"/>
          <p:cNvSpPr/>
          <p:nvPr/>
        </p:nvSpPr>
        <p:spPr>
          <a:xfrm>
            <a:off x="7781544" y="22768560"/>
            <a:ext cx="2276856" cy="274320"/>
          </a:xfrm>
          <a:prstGeom prst="rect">
            <a:avLst/>
          </a:prstGeom>
          <a:noFill/>
          <a:ln/>
        </p:spPr>
        <p:txBody>
          <a:bodyPr wrap="square" lIns="0" tIns="0" rIns="0" bIns="0" rtlCol="0" anchor="t"/>
          <a:lstStyle/>
          <a:p>
            <a:pPr marL="0" indent="0" algn="l">
              <a:lnSpc>
                <a:spcPct val="105000"/>
              </a:lnSpc>
              <a:buNone/>
            </a:pPr>
            <a:r>
              <a:rPr lang="en-US" sz="960" b="1" dirty="0">
                <a:solidFill>
                  <a:srgbClr val="FFFFFF"/>
                </a:solidFill>
                <a:latin typeface="Times New Roman" panose="02020603050405020304" pitchFamily="18" charset="0"/>
                <a:ea typeface="Calibri" pitchFamily="34" charset="-122"/>
                <a:cs typeface="Times New Roman" panose="02020603050405020304" pitchFamily="18" charset="0"/>
              </a:rPr>
              <a:t>Junction engineering</a:t>
            </a:r>
            <a:endParaRPr lang="en-US" sz="960" dirty="0">
              <a:latin typeface="Times New Roman" panose="02020603050405020304" pitchFamily="18" charset="0"/>
              <a:cs typeface="Times New Roman" panose="02020603050405020304" pitchFamily="18" charset="0"/>
            </a:endParaRPr>
          </a:p>
        </p:txBody>
      </p:sp>
      <p:sp>
        <p:nvSpPr>
          <p:cNvPr id="204" name="Text 164"/>
          <p:cNvSpPr/>
          <p:nvPr/>
        </p:nvSpPr>
        <p:spPr>
          <a:xfrm>
            <a:off x="7781544" y="23042880"/>
            <a:ext cx="2276856" cy="420624"/>
          </a:xfrm>
          <a:prstGeom prst="rect">
            <a:avLst/>
          </a:prstGeom>
          <a:noFill/>
          <a:ln/>
        </p:spPr>
        <p:txBody>
          <a:bodyPr wrap="square" lIns="0" tIns="0" rIns="0" bIns="0" rtlCol="0" anchor="t"/>
          <a:lstStyle/>
          <a:p>
            <a:pPr marL="0" indent="0" algn="l">
              <a:lnSpc>
                <a:spcPct val="115000"/>
              </a:lnSpc>
              <a:buNone/>
            </a:pPr>
            <a:r>
              <a:rPr lang="en-US" sz="900" dirty="0">
                <a:solidFill>
                  <a:srgbClr val="D8E5F2"/>
                </a:solidFill>
                <a:latin typeface="Times New Roman" panose="02020603050405020304" pitchFamily="18" charset="0"/>
                <a:ea typeface="Calibri" pitchFamily="34" charset="-122"/>
                <a:cs typeface="Times New Roman" panose="02020603050405020304" pitchFamily="18" charset="0"/>
              </a:rPr>
              <a:t>Add signals and clearer lane markings at high-risk intersections</a:t>
            </a:r>
            <a:r>
              <a:rPr lang="en-US" sz="830" dirty="0">
                <a:solidFill>
                  <a:srgbClr val="D8E5F2"/>
                </a:solidFill>
                <a:latin typeface="Calibri" pitchFamily="34" charset="0"/>
                <a:ea typeface="Calibri" pitchFamily="34" charset="-122"/>
                <a:cs typeface="Calibri" pitchFamily="34" charset="-120"/>
              </a:rPr>
              <a:t>.</a:t>
            </a:r>
            <a:endParaRPr lang="en-US" sz="830" dirty="0"/>
          </a:p>
        </p:txBody>
      </p:sp>
      <p:pic>
        <p:nvPicPr>
          <p:cNvPr id="205" name="Image 38" descr="icon_megaphone.png"/>
          <p:cNvPicPr>
            <a:picLocks noChangeAspect="1"/>
          </p:cNvPicPr>
          <p:nvPr/>
        </p:nvPicPr>
        <p:blipFill>
          <a:blip r:embed="rId31"/>
          <a:stretch>
            <a:fillRect/>
          </a:stretch>
        </p:blipFill>
        <p:spPr>
          <a:xfrm>
            <a:off x="4617720" y="23618952"/>
            <a:ext cx="237744" cy="237744"/>
          </a:xfrm>
          <a:prstGeom prst="rect">
            <a:avLst/>
          </a:prstGeom>
        </p:spPr>
      </p:pic>
      <p:sp>
        <p:nvSpPr>
          <p:cNvPr id="206" name="Text 165"/>
          <p:cNvSpPr/>
          <p:nvPr/>
        </p:nvSpPr>
        <p:spPr>
          <a:xfrm>
            <a:off x="4946904" y="23591520"/>
            <a:ext cx="2276856" cy="274320"/>
          </a:xfrm>
          <a:prstGeom prst="rect">
            <a:avLst/>
          </a:prstGeom>
          <a:noFill/>
          <a:ln/>
        </p:spPr>
        <p:txBody>
          <a:bodyPr wrap="square" lIns="0" tIns="0" rIns="0" bIns="0" rtlCol="0" anchor="t"/>
          <a:lstStyle/>
          <a:p>
            <a:pPr marL="0" indent="0" algn="l">
              <a:lnSpc>
                <a:spcPct val="105000"/>
              </a:lnSpc>
              <a:buNone/>
            </a:pPr>
            <a:r>
              <a:rPr lang="en-US" sz="960" b="1" dirty="0">
                <a:solidFill>
                  <a:srgbClr val="FFFFFF"/>
                </a:solidFill>
                <a:latin typeface="Times New Roman" panose="02020603050405020304" pitchFamily="18" charset="0"/>
                <a:ea typeface="Calibri" pitchFamily="34" charset="-122"/>
                <a:cs typeface="Times New Roman" panose="02020603050405020304" pitchFamily="18" charset="0"/>
              </a:rPr>
              <a:t>Evening awareness campaigns</a:t>
            </a:r>
            <a:endParaRPr lang="en-US" sz="960" dirty="0">
              <a:latin typeface="Times New Roman" panose="02020603050405020304" pitchFamily="18" charset="0"/>
              <a:cs typeface="Times New Roman" panose="02020603050405020304" pitchFamily="18" charset="0"/>
            </a:endParaRPr>
          </a:p>
        </p:txBody>
      </p:sp>
      <p:sp>
        <p:nvSpPr>
          <p:cNvPr id="207" name="Text 166"/>
          <p:cNvSpPr/>
          <p:nvPr/>
        </p:nvSpPr>
        <p:spPr>
          <a:xfrm>
            <a:off x="4946904" y="23865840"/>
            <a:ext cx="2276856" cy="420624"/>
          </a:xfrm>
          <a:prstGeom prst="rect">
            <a:avLst/>
          </a:prstGeom>
          <a:noFill/>
          <a:ln/>
        </p:spPr>
        <p:txBody>
          <a:bodyPr wrap="square" lIns="0" tIns="0" rIns="0" bIns="0" rtlCol="0" anchor="t"/>
          <a:lstStyle/>
          <a:p>
            <a:pPr marL="0" indent="0" algn="l">
              <a:lnSpc>
                <a:spcPct val="115000"/>
              </a:lnSpc>
              <a:buNone/>
            </a:pPr>
            <a:r>
              <a:rPr lang="en-US" sz="900" dirty="0">
                <a:solidFill>
                  <a:srgbClr val="D8E5F2"/>
                </a:solidFill>
                <a:latin typeface="Times New Roman" panose="02020603050405020304" pitchFamily="18" charset="0"/>
                <a:ea typeface="Calibri" pitchFamily="34" charset="-122"/>
                <a:cs typeface="Times New Roman" panose="02020603050405020304" pitchFamily="18" charset="0"/>
              </a:rPr>
              <a:t>Target driver-alertness messaging around the 5–7 PM rush.</a:t>
            </a:r>
            <a:endParaRPr lang="en-US" sz="900" dirty="0">
              <a:latin typeface="Times New Roman" panose="02020603050405020304" pitchFamily="18" charset="0"/>
              <a:cs typeface="Times New Roman" panose="02020603050405020304" pitchFamily="18" charset="0"/>
            </a:endParaRPr>
          </a:p>
        </p:txBody>
      </p:sp>
      <p:pic>
        <p:nvPicPr>
          <p:cNvPr id="208" name="Image 39" descr="icon_siren.png"/>
          <p:cNvPicPr>
            <a:picLocks noChangeAspect="1"/>
          </p:cNvPicPr>
          <p:nvPr/>
        </p:nvPicPr>
        <p:blipFill>
          <a:blip r:embed="rId32"/>
          <a:stretch>
            <a:fillRect/>
          </a:stretch>
        </p:blipFill>
        <p:spPr>
          <a:xfrm>
            <a:off x="7452360" y="23618952"/>
            <a:ext cx="237744" cy="237744"/>
          </a:xfrm>
          <a:prstGeom prst="rect">
            <a:avLst/>
          </a:prstGeom>
        </p:spPr>
      </p:pic>
      <p:sp>
        <p:nvSpPr>
          <p:cNvPr id="209" name="Text 167"/>
          <p:cNvSpPr/>
          <p:nvPr/>
        </p:nvSpPr>
        <p:spPr>
          <a:xfrm>
            <a:off x="7781544" y="23591520"/>
            <a:ext cx="2276856" cy="274320"/>
          </a:xfrm>
          <a:prstGeom prst="rect">
            <a:avLst/>
          </a:prstGeom>
          <a:noFill/>
          <a:ln/>
        </p:spPr>
        <p:txBody>
          <a:bodyPr wrap="square" lIns="0" tIns="0" rIns="0" bIns="0" rtlCol="0" anchor="t"/>
          <a:lstStyle/>
          <a:p>
            <a:pPr marL="0" indent="0" algn="l">
              <a:lnSpc>
                <a:spcPct val="105000"/>
              </a:lnSpc>
              <a:buNone/>
            </a:pPr>
            <a:r>
              <a:rPr lang="en-US" sz="960" b="1" dirty="0">
                <a:solidFill>
                  <a:srgbClr val="FFFFFF"/>
                </a:solidFill>
                <a:latin typeface="Times New Roman" panose="02020603050405020304" pitchFamily="18" charset="0"/>
                <a:ea typeface="Calibri" pitchFamily="34" charset="-122"/>
                <a:cs typeface="Times New Roman" panose="02020603050405020304" pitchFamily="18" charset="0"/>
              </a:rPr>
              <a:t>Faster emergency response</a:t>
            </a:r>
            <a:endParaRPr lang="en-US" sz="960" dirty="0">
              <a:latin typeface="Times New Roman" panose="02020603050405020304" pitchFamily="18" charset="0"/>
              <a:cs typeface="Times New Roman" panose="02020603050405020304" pitchFamily="18" charset="0"/>
            </a:endParaRPr>
          </a:p>
        </p:txBody>
      </p:sp>
      <p:sp>
        <p:nvSpPr>
          <p:cNvPr id="210" name="Text 168"/>
          <p:cNvSpPr/>
          <p:nvPr/>
        </p:nvSpPr>
        <p:spPr>
          <a:xfrm>
            <a:off x="7781544" y="23865840"/>
            <a:ext cx="2276856" cy="420624"/>
          </a:xfrm>
          <a:prstGeom prst="rect">
            <a:avLst/>
          </a:prstGeom>
          <a:noFill/>
          <a:ln/>
        </p:spPr>
        <p:txBody>
          <a:bodyPr wrap="square" lIns="0" tIns="0" rIns="0" bIns="0" rtlCol="0" anchor="t"/>
          <a:lstStyle/>
          <a:p>
            <a:pPr marL="0" indent="0" algn="l">
              <a:lnSpc>
                <a:spcPct val="115000"/>
              </a:lnSpc>
              <a:buNone/>
            </a:pPr>
            <a:r>
              <a:rPr lang="en-US" sz="900" dirty="0">
                <a:solidFill>
                  <a:srgbClr val="D8E5F2"/>
                </a:solidFill>
                <a:latin typeface="Times New Roman" panose="02020603050405020304" pitchFamily="18" charset="0"/>
                <a:ea typeface="Calibri" pitchFamily="34" charset="-122"/>
                <a:cs typeface="Times New Roman" panose="02020603050405020304" pitchFamily="18" charset="0"/>
              </a:rPr>
              <a:t>Prioritise ambulance dispatch on high-fatality highway stretches.</a:t>
            </a:r>
            <a:endParaRPr lang="en-US" sz="900" dirty="0">
              <a:latin typeface="Times New Roman" panose="02020603050405020304" pitchFamily="18" charset="0"/>
              <a:cs typeface="Times New Roman" panose="02020603050405020304" pitchFamily="18" charset="0"/>
            </a:endParaRPr>
          </a:p>
        </p:txBody>
      </p:sp>
      <p:sp>
        <p:nvSpPr>
          <p:cNvPr id="217" name="TextBox 216">
            <a:extLst>
              <a:ext uri="{FF2B5EF4-FFF2-40B4-BE49-F238E27FC236}">
                <a16:creationId xmlns:a16="http://schemas.microsoft.com/office/drawing/2014/main" id="{67F2B904-60C0-1CD7-B6B3-B657D3DED3A6}"/>
              </a:ext>
            </a:extLst>
          </p:cNvPr>
          <p:cNvSpPr txBox="1"/>
          <p:nvPr/>
        </p:nvSpPr>
        <p:spPr>
          <a:xfrm>
            <a:off x="8165042" y="342900"/>
            <a:ext cx="2076237" cy="923330"/>
          </a:xfrm>
          <a:prstGeom prst="rect">
            <a:avLst/>
          </a:prstGeom>
          <a:solidFill>
            <a:schemeClr val="accent5">
              <a:lumMod val="50000"/>
            </a:schemeClr>
          </a:solid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Name: Shaik Nuha</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Reg.no:192472242</a:t>
            </a:r>
          </a:p>
          <a:p>
            <a:r>
              <a:rPr lang="en-US" dirty="0">
                <a:solidFill>
                  <a:schemeClr val="bg1"/>
                </a:solidFill>
                <a:latin typeface="Times New Roman" panose="02020603050405020304" pitchFamily="18" charset="0"/>
                <a:cs typeface="Times New Roman" panose="02020603050405020304" pitchFamily="18" charset="0"/>
              </a:rPr>
              <a:t>Code:DSA0404</a:t>
            </a:r>
            <a:endParaRPr lang="en-IN"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TotalTime>
  <Words>731</Words>
  <Application>Microsoft Office PowerPoint</Application>
  <PresentationFormat>Custom</PresentationFormat>
  <Paragraphs>112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Times New Roman</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nuha shaik</cp:lastModifiedBy>
  <cp:revision>4</cp:revision>
  <dcterms:created xsi:type="dcterms:W3CDTF">2026-08-17T01:17:17Z</dcterms:created>
  <dcterms:modified xsi:type="dcterms:W3CDTF">2026-08-17T03:51:26Z</dcterms:modified>
</cp:coreProperties>
</file>